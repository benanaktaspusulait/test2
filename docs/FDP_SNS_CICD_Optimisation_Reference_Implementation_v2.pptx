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an engineering reference implementation, not just a one-off speed-up.
[Sources]
Internal SNS CI/CD optimisation documentation and measured pipeline timings.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frames the problem as a cross-cutting engineering issue.
[Sources]
Internal SNS optimisation overview and results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evidence comes from ten successful runs. Visible steps overlap and are not additive.
[Sources]
Internal Results, Engineering Learnings &amp; Reuse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before diagram is conceptual. It shows lifecycle distributed across Compose and CI.
[Sources]
Internal Docker &amp; CI Pipeline Optimisation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summarises the changes without code detail.
[Sources]
Internal Confluence draft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after diagram shows key dependency relationships, especially Trivy DB preparation overlapping useful work.
[Sources]
Internal Docker &amp; CI Pipeline Optimisation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high-level before/after result. The baseline is an average of ten successful runs; after values are two measured optimised runs.
[Sources]
Internal Results, Engineering Learnings &amp; Reuse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requested component-level before/after comparison. It deliberately excludes Testcontainers as a numeric before/after row because the old and new scopes are not one-to-one.
[Sources]
Internal Results, Engineering Learnings &amp; Reuse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obvious risk question: what was preserved?
[Sources]
Internal Testcontainers and Built-Image validation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experiments not retained, not about validations we preserved.
[Sources]
Internal Results, Engineering Learnings &amp; Reuse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script: This is now a reusable reference implementation. The next step is to validate the approach on 2–3 representative repositories and turn it into a standard.
[Sources]
Internal Results and Reuse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94360"/>
            <a:ext cx="25603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515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FDP CI/CD Optimisation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C7C6"/>
                </a:solidFill>
              </a:rPr>
              <a:t>SNS reference implementation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02996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Reducing CI feedback time while preserving test, runtime and security validation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15400" y="868680"/>
            <a:ext cx="1965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025128" y="96012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000"/>
                </a:solidFill>
              </a:rPr>
              <a:t>13:35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25128" y="130759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Baseline avg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9025128" y="1463040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8A94A6"/>
                </a:solidFill>
              </a:rPr>
              <a:t>N=10 successful runs</a:t>
            </a:r>
            <a:endParaRPr lang="en-US" sz="520" dirty="0"/>
          </a:p>
        </p:txBody>
      </p:sp>
      <p:sp>
        <p:nvSpPr>
          <p:cNvPr id="10" name="Shape 8"/>
          <p:cNvSpPr/>
          <p:nvPr/>
        </p:nvSpPr>
        <p:spPr>
          <a:xfrm>
            <a:off x="8915400" y="1828800"/>
            <a:ext cx="1965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25128" y="192024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A6"/>
                </a:solidFill>
              </a:rPr>
              <a:t>4:44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25128" y="226771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Optimised best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9025128" y="2423160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8A94A6"/>
                </a:solidFill>
              </a:rPr>
              <a:t>observed run</a:t>
            </a:r>
            <a:endParaRPr lang="en-US" sz="520" dirty="0"/>
          </a:p>
        </p:txBody>
      </p:sp>
      <p:sp>
        <p:nvSpPr>
          <p:cNvPr id="14" name="Shape 12"/>
          <p:cNvSpPr/>
          <p:nvPr/>
        </p:nvSpPr>
        <p:spPr>
          <a:xfrm>
            <a:off x="8915400" y="2788920"/>
            <a:ext cx="1965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25128" y="288036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A957"/>
                </a:solidFill>
              </a:rPr>
              <a:t>~65%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25128" y="322783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Best reduction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9025128" y="3383280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8A94A6"/>
                </a:solidFill>
              </a:rPr>
              <a:t>~2.87x faster</a:t>
            </a:r>
            <a:endParaRPr lang="en-US" sz="520" dirty="0"/>
          </a:p>
        </p:txBody>
      </p:sp>
      <p:sp>
        <p:nvSpPr>
          <p:cNvPr id="18" name="Text 16"/>
          <p:cNvSpPr/>
          <p:nvPr/>
        </p:nvSpPr>
        <p:spPr>
          <a:xfrm>
            <a:off x="502920" y="58064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Evidence-led redesign • Reference implementation • Reusable engineering pattern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608076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</a:rPr>
              <a:t>Note: Optimised timings are observed results, not guaranteed future runtimes.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1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</a:rPr>
              <a:t>Why this was worth looking 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The issue was not just a slow build. It was distributed ownership and hidden waste.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122529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161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838"/>
                </a:solidFill>
              </a:rPr>
              <a:t>Slow feedback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7085"/>
                </a:solidFill>
              </a:rPr>
              <a:t>Successful CI averaged 13:35, which stretched every feedback loop.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640080" y="2157984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838"/>
                </a:solidFill>
              </a:rPr>
              <a:t>Distributed lifecycle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4140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7085"/>
                </a:solidFill>
              </a:rPr>
              <a:t>Kafka, Redis, aggregates, command adaptor and tests were owned across different CI stages.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640080" y="3090672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815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838"/>
                </a:solidFill>
              </a:rPr>
              <a:t>Hidden ownership gaps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7085"/>
                </a:solidFill>
              </a:rPr>
              <a:t>Long-running pipelines had become normalised rather than actively challenged.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14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838"/>
                </a:solidFill>
              </a:rPr>
              <a:t>Risk of false gains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4279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7085"/>
                </a:solidFill>
              </a:rPr>
              <a:t>A faster result is only useful if business scenarios, image validation and security checks remain intact.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583680" y="1417320"/>
            <a:ext cx="4206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838"/>
                </a:solidFill>
              </a:rPr>
              <a:t>Core challenge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A6A6"/>
                </a:solidFill>
              </a:rPr>
              <a:t>Make the pipeline faster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A6A6"/>
                </a:solidFill>
              </a:rPr>
              <a:t>without making it weaker.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03720" y="2971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That meant retaining: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95160" y="3305556"/>
            <a:ext cx="91440" cy="9144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32735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Business scenarios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3579876"/>
            <a:ext cx="91440" cy="9144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9752" y="3547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Exact image validation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95160" y="3854196"/>
            <a:ext cx="91440" cy="9144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3822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Security scanning/reporting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95160" y="4128516"/>
            <a:ext cx="91440" cy="9144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Failure diagnostics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2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</a:rPr>
              <a:t>Baseline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Measured before changing the pipeline. Successful runs only; visible step durations overlap.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051560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000"/>
                </a:solidFill>
              </a:rPr>
              <a:t>13:35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" y="139903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Average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8A94A6"/>
                </a:solidFill>
              </a:rPr>
              <a:t>N=10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1965960" y="96012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75688" y="1051560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838"/>
                </a:solidFill>
              </a:rPr>
              <a:t>13:31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75688" y="139903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Median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>
            <a:off x="3429000" y="96012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38728" y="1051560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838"/>
                </a:solidFill>
              </a:rPr>
              <a:t>13:20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8728" y="139903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Fastest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01768" y="1051560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838"/>
                </a:solidFill>
              </a:rPr>
              <a:t>13:57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01768" y="139903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Slowest</a:t>
            </a:r>
            <a:endParaRPr lang="en-US" sz="660" dirty="0"/>
          </a:p>
        </p:txBody>
      </p:sp>
      <p:sp>
        <p:nvSpPr>
          <p:cNvPr id="18" name="Shape 16"/>
          <p:cNvSpPr/>
          <p:nvPr/>
        </p:nvSpPr>
        <p:spPr>
          <a:xfrm>
            <a:off x="6629400" y="100584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5D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13385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92400E"/>
                </a:solidFill>
              </a:rPr>
              <a:t>Important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6784848" y="13533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2400E"/>
                </a:solidFill>
              </a:rPr>
              <a:t>steps overlap — do not sum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804672" y="5623560"/>
            <a:ext cx="9601200" cy="0"/>
          </a:xfrm>
          <a:prstGeom prst="line">
            <a:avLst/>
          </a:prstGeom>
          <a:noFill/>
          <a:ln w="6350">
            <a:solidFill>
              <a:srgbClr val="E6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55778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8A2B3"/>
                </a:solidFill>
              </a:rPr>
              <a:t>0</a:t>
            </a:r>
            <a:endParaRPr lang="en-US" sz="540" dirty="0"/>
          </a:p>
        </p:txBody>
      </p:sp>
      <p:sp>
        <p:nvSpPr>
          <p:cNvPr id="23" name="Shape 21"/>
          <p:cNvSpPr/>
          <p:nvPr/>
        </p:nvSpPr>
        <p:spPr>
          <a:xfrm>
            <a:off x="804672" y="4787537"/>
            <a:ext cx="9601200" cy="0"/>
          </a:xfrm>
          <a:prstGeom prst="line">
            <a:avLst/>
          </a:prstGeom>
          <a:noFill/>
          <a:ln w="6350">
            <a:solidFill>
              <a:srgbClr val="E6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741817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8A2B3"/>
                </a:solidFill>
              </a:rPr>
              <a:t>200</a:t>
            </a:r>
            <a:endParaRPr lang="en-US" sz="540" dirty="0"/>
          </a:p>
        </p:txBody>
      </p:sp>
      <p:sp>
        <p:nvSpPr>
          <p:cNvPr id="25" name="Shape 23"/>
          <p:cNvSpPr/>
          <p:nvPr/>
        </p:nvSpPr>
        <p:spPr>
          <a:xfrm>
            <a:off x="804672" y="3951514"/>
            <a:ext cx="9601200" cy="0"/>
          </a:xfrm>
          <a:prstGeom prst="line">
            <a:avLst/>
          </a:prstGeom>
          <a:noFill/>
          <a:ln w="6350">
            <a:solidFill>
              <a:srgbClr val="E6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90579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8A2B3"/>
                </a:solidFill>
              </a:rPr>
              <a:t>400</a:t>
            </a:r>
            <a:endParaRPr lang="en-US" sz="540" dirty="0"/>
          </a:p>
        </p:txBody>
      </p:sp>
      <p:sp>
        <p:nvSpPr>
          <p:cNvPr id="27" name="Shape 25"/>
          <p:cNvSpPr/>
          <p:nvPr/>
        </p:nvSpPr>
        <p:spPr>
          <a:xfrm>
            <a:off x="804672" y="3115491"/>
            <a:ext cx="9601200" cy="0"/>
          </a:xfrm>
          <a:prstGeom prst="line">
            <a:avLst/>
          </a:prstGeom>
          <a:noFill/>
          <a:ln w="6350">
            <a:solidFill>
              <a:srgbClr val="E6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069771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8A2B3"/>
                </a:solidFill>
              </a:rPr>
              <a:t>600</a:t>
            </a:r>
            <a:endParaRPr lang="en-US" sz="540" dirty="0"/>
          </a:p>
        </p:txBody>
      </p:sp>
      <p:sp>
        <p:nvSpPr>
          <p:cNvPr id="29" name="Shape 27"/>
          <p:cNvSpPr/>
          <p:nvPr/>
        </p:nvSpPr>
        <p:spPr>
          <a:xfrm>
            <a:off x="914400" y="2860504"/>
            <a:ext cx="960120" cy="2763056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69591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B2838"/>
                </a:solidFill>
              </a:rPr>
              <a:t>11:01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777240" y="57607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Command Adaptor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2194560" y="3186553"/>
            <a:ext cx="960120" cy="2437007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021961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B2838"/>
                </a:solidFill>
              </a:rPr>
              <a:t>9:43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2057400" y="57607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Integration Tests</a:t>
            </a:r>
            <a:endParaRPr lang="en-US" sz="580" dirty="0"/>
          </a:p>
        </p:txBody>
      </p:sp>
      <p:sp>
        <p:nvSpPr>
          <p:cNvPr id="35" name="Shape 33"/>
          <p:cNvSpPr/>
          <p:nvPr/>
        </p:nvSpPr>
        <p:spPr>
          <a:xfrm>
            <a:off x="3474720" y="5046704"/>
            <a:ext cx="960120" cy="576856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488211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B2838"/>
                </a:solidFill>
              </a:rPr>
              <a:t>2:18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3337560" y="57607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Kafka &amp; Redis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4754880" y="5272430"/>
            <a:ext cx="960120" cy="351130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510783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B2838"/>
                </a:solidFill>
              </a:rPr>
              <a:t>1:24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4617720" y="57607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Maven Build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6035040" y="5439635"/>
            <a:ext cx="960120" cy="183925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5275043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B2838"/>
                </a:solidFill>
              </a:rPr>
              <a:t>0:44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5897880" y="57607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Trivy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7315200" y="5502337"/>
            <a:ext cx="960120" cy="121223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5337745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B2838"/>
                </a:solidFill>
              </a:rPr>
              <a:t>0:29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7178040" y="57607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Aggregators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8595360" y="5598479"/>
            <a:ext cx="960120" cy="25081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5433887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B2838"/>
                </a:solidFill>
              </a:rPr>
              <a:t>0:06</a:t>
            </a:r>
            <a:endParaRPr lang="en-US" sz="620" dirty="0"/>
          </a:p>
        </p:txBody>
      </p:sp>
      <p:sp>
        <p:nvSpPr>
          <p:cNvPr id="49" name="Text 47"/>
          <p:cNvSpPr/>
          <p:nvPr/>
        </p:nvSpPr>
        <p:spPr>
          <a:xfrm>
            <a:off x="8458200" y="57607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Pre-Integration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822960" y="202996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Visible baseline step averages (seconds)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3</a:t>
            </a:r>
            <a:endParaRPr lang="en-US" sz="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</a:rPr>
              <a:t>Before: distributed lifecycle ownership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Conceptual execution model: orchestration, app startup and tests were split across multiple stages.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0A2C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34416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Secrets / Docker readiness</a:t>
            </a:r>
            <a:endParaRPr lang="en-US" sz="620" dirty="0"/>
          </a:p>
        </p:txBody>
      </p:sp>
      <p:sp>
        <p:nvSpPr>
          <p:cNvPr id="7" name="Shape 5"/>
          <p:cNvSpPr/>
          <p:nvPr/>
        </p:nvSpPr>
        <p:spPr>
          <a:xfrm>
            <a:off x="2834640" y="96012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2F6E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10698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Kafka &amp; Redis</a:t>
            </a:r>
            <a:endParaRPr lang="en-US" sz="62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1371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F4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06984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Maven build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6675120" y="96012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106984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Command adaptor container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8961120" y="96012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95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5984" y="10698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Pre-integration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9692640" y="1828800"/>
            <a:ext cx="1371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95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47504" y="193852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Integration tests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11201400" y="1828800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667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56264" y="193852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Trivy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3657600" y="1828800"/>
            <a:ext cx="1371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93852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Aggregators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377440" y="1444752"/>
            <a:ext cx="457200" cy="-27432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14800" y="1170432"/>
            <a:ext cx="6400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26480" y="1170432"/>
            <a:ext cx="54864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21040" y="1170432"/>
            <a:ext cx="6400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1200" y="1399032"/>
            <a:ext cx="365760" cy="429768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1064240" y="2048256"/>
            <a:ext cx="13716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377440" y="1444752"/>
            <a:ext cx="1280160" cy="384048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8680" y="39319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51560" y="4160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B2838"/>
                </a:solidFill>
              </a:rPr>
              <a:t>Orchestration overhead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05156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Infrastructure and app containers were prepared across CI and Compose.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297680" y="39319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160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B2838"/>
                </a:solidFill>
              </a:rPr>
              <a:t>Indirect failure evidence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48056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Failures were distributed between services, readiness checks and tests.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7726680" y="39319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09560" y="4160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B2838"/>
                </a:solidFill>
              </a:rPr>
              <a:t>Critical-path drag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790956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Trivy DB preparation happened inside the final scan path.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4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</a:rPr>
              <a:t>What changed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 controlled redesign across Docker, CI, tests, Maven and scanner preparation.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234440"/>
            <a:ext cx="73152" cy="7498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807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838"/>
                </a:solidFill>
              </a:rPr>
              <a:t>Docker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86968" y="16550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Focused context; stable layers before volatile artefacts.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234440"/>
            <a:ext cx="73152" cy="749808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3807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838"/>
                </a:solidFill>
              </a:rPr>
              <a:t>Test architecture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37960" y="16550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Infrastructure owned by Testcontainers; application in test JVM.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658368" y="246888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468880"/>
            <a:ext cx="73152" cy="749808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6151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838"/>
                </a:solidFill>
              </a:rPr>
              <a:t>Reliability guards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86968" y="28895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Scenario counting, Docker availability and zero-test protections.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6309360" y="246888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468880"/>
            <a:ext cx="73152" cy="7498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6151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838"/>
                </a:solidFill>
              </a:rPr>
              <a:t>Runtime validation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37960" y="28895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Exact image startup remains independently checked.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658368" y="370332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3703320"/>
            <a:ext cx="73152" cy="749808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38496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838"/>
                </a:solidFill>
              </a:rPr>
              <a:t>Maven reuse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6968" y="41239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Verified outputs reused; duplicate work removed.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6309360" y="370332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3703320"/>
            <a:ext cx="73152" cy="749808"/>
          </a:xfrm>
          <a:prstGeom prst="rect">
            <a:avLst/>
          </a:prstGeom>
          <a:solidFill>
            <a:srgbClr val="E95545"/>
          </a:solidFill>
          <a:ln w="12700">
            <a:solidFill>
              <a:srgbClr val="E95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8496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838"/>
                </a:solidFill>
              </a:rPr>
              <a:t>Trivy critical path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37960" y="41239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DB preparation moved earlier; scan retained.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13232" y="5577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6A6"/>
                </a:solidFill>
              </a:rPr>
              <a:t>Design rule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874520" y="55778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</a:rPr>
              <a:t>Keep validations. Remove duplicated work. Overlap independent preparation. Measure and revert anything that does not help.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5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</a:rPr>
              <a:t>After: consolidated test-owned lifecycle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Independent setup work overlaps; correctness gates remain sequential.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0A2C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43560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Retrieve secrets</a:t>
            </a:r>
            <a:endParaRPr lang="en-US" sz="620" dirty="0"/>
          </a:p>
        </p:txBody>
      </p:sp>
      <p:sp>
        <p:nvSpPr>
          <p:cNvPr id="7" name="Shape 5"/>
          <p:cNvSpPr/>
          <p:nvPr/>
        </p:nvSpPr>
        <p:spPr>
          <a:xfrm>
            <a:off x="2743200" y="107899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2F6E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8064" y="118872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Wait for Docker</a:t>
            </a:r>
            <a:endParaRPr lang="en-US" sz="620" dirty="0"/>
          </a:p>
        </p:txBody>
      </p:sp>
      <p:sp>
        <p:nvSpPr>
          <p:cNvPr id="9" name="Shape 7"/>
          <p:cNvSpPr/>
          <p:nvPr/>
        </p:nvSpPr>
        <p:spPr>
          <a:xfrm>
            <a:off x="2743200" y="176479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8064" y="187452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Extract adaptor info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2743200" y="245059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95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256032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Prepare Trivy DB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4709160" y="1764792"/>
            <a:ext cx="20574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874520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Build/Test with Testcontainers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7315200" y="1764792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667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0064" y="18745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Build image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8732520" y="1764792"/>
            <a:ext cx="1783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87384" y="187452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Validate built image runtime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10972800" y="1764792"/>
            <a:ext cx="7315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95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27664" y="187452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B2838"/>
                </a:solidFill>
              </a:rPr>
              <a:t>Trivy scan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1965960" y="1545336"/>
            <a:ext cx="777240" cy="-237744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65960" y="1545336"/>
            <a:ext cx="777240" cy="429768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1545336"/>
            <a:ext cx="777240" cy="1115568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86200" y="1307592"/>
            <a:ext cx="822960" cy="621792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86200" y="1975104"/>
            <a:ext cx="822960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66560" y="2002536"/>
            <a:ext cx="548640" cy="-9144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29600" y="1993392"/>
            <a:ext cx="502920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515600" y="1993392"/>
            <a:ext cx="457200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886200" y="2660904"/>
            <a:ext cx="7086600" cy="-484632"/>
          </a:xfrm>
          <a:prstGeom prst="line">
            <a:avLst/>
          </a:prstGeom>
          <a:noFill/>
          <a:ln w="13970">
            <a:solidFill>
              <a:srgbClr val="E9554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7240" y="420624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44348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B2838"/>
                </a:solidFill>
              </a:rPr>
              <a:t>Parallel preparation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005840" y="4709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Docker readiness, adaptor info and Trivy DB work overlap.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480560" y="420624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09160" y="44348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B2838"/>
                </a:solidFill>
              </a:rPr>
              <a:t>Test-owned dependencies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709160" y="4709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Redis, Kafka, Schema Registry and aggregates live in the test lifecycle.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8183880" y="420624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412480" y="44348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B2838"/>
                </a:solidFill>
              </a:rPr>
              <a:t>Sequential gates retained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8412480" y="4709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Tests → image build → runtime validation → final scan.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40" name="Text 38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6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</a:rPr>
              <a:t>Measured result: the pipeline is roughly one third of the previous duration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Successful CI baseline average compared with two measured optimised runs.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5486400"/>
            <a:ext cx="7223760" cy="0"/>
          </a:xfrm>
          <a:prstGeom prst="line">
            <a:avLst/>
          </a:prstGeom>
          <a:noFill/>
          <a:ln w="635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44068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8A2B3"/>
                </a:solidFill>
              </a:rPr>
              <a:t>0</a:t>
            </a:r>
            <a:endParaRPr lang="en-US" sz="540" dirty="0"/>
          </a:p>
        </p:txBody>
      </p:sp>
      <p:sp>
        <p:nvSpPr>
          <p:cNvPr id="7" name="Shape 5"/>
          <p:cNvSpPr/>
          <p:nvPr/>
        </p:nvSpPr>
        <p:spPr>
          <a:xfrm>
            <a:off x="822960" y="4163209"/>
            <a:ext cx="7223760" cy="0"/>
          </a:xfrm>
          <a:prstGeom prst="line">
            <a:avLst/>
          </a:prstGeom>
          <a:noFill/>
          <a:ln w="635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4117489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8A2B3"/>
                </a:solidFill>
              </a:rPr>
              <a:t>300</a:t>
            </a:r>
            <a:endParaRPr lang="en-US" sz="540" dirty="0"/>
          </a:p>
        </p:txBody>
      </p:sp>
      <p:sp>
        <p:nvSpPr>
          <p:cNvPr id="9" name="Shape 7"/>
          <p:cNvSpPr/>
          <p:nvPr/>
        </p:nvSpPr>
        <p:spPr>
          <a:xfrm>
            <a:off x="822960" y="2840019"/>
            <a:ext cx="7223760" cy="0"/>
          </a:xfrm>
          <a:prstGeom prst="line">
            <a:avLst/>
          </a:prstGeom>
          <a:noFill/>
          <a:ln w="6350">
            <a:solidFill>
              <a:srgbClr val="E6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794299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8A2B3"/>
                </a:solidFill>
              </a:rPr>
              <a:t>600</a:t>
            </a:r>
            <a:endParaRPr lang="en-US" sz="540" dirty="0"/>
          </a:p>
        </p:txBody>
      </p:sp>
      <p:sp>
        <p:nvSpPr>
          <p:cNvPr id="11" name="Shape 9"/>
          <p:cNvSpPr/>
          <p:nvPr/>
        </p:nvSpPr>
        <p:spPr>
          <a:xfrm>
            <a:off x="822960" y="1957892"/>
            <a:ext cx="7223760" cy="0"/>
          </a:xfrm>
          <a:prstGeom prst="line">
            <a:avLst/>
          </a:prstGeom>
          <a:noFill/>
          <a:ln w="6350">
            <a:solidFill>
              <a:srgbClr val="E6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1217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8A2B3"/>
                </a:solidFill>
              </a:rPr>
              <a:t>800</a:t>
            </a:r>
            <a:endParaRPr lang="en-US" sz="540" dirty="0"/>
          </a:p>
        </p:txBody>
      </p:sp>
      <p:sp>
        <p:nvSpPr>
          <p:cNvPr id="13" name="Shape 11"/>
          <p:cNvSpPr/>
          <p:nvPr/>
        </p:nvSpPr>
        <p:spPr>
          <a:xfrm>
            <a:off x="1097280" y="1891732"/>
            <a:ext cx="1280160" cy="3594668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7088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838"/>
                </a:solidFill>
              </a:rPr>
              <a:t>13:35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914400" y="5650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Baseline average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3291840" y="4176441"/>
            <a:ext cx="1280160" cy="1309959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993561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838"/>
                </a:solidFill>
              </a:rPr>
              <a:t>4:57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108960" y="5650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Optimised run 1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5486400" y="4233780"/>
            <a:ext cx="1280160" cy="12526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405090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838"/>
                </a:solidFill>
              </a:rPr>
              <a:t>4:44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303520" y="5650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Optimised run 2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8549640" y="187452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59368" y="196596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A957"/>
                </a:solidFill>
              </a:rPr>
              <a:t>~65.2%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59368" y="231343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Best observed reduction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8549640" y="288036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59368" y="297180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A6"/>
                </a:solidFill>
              </a:rPr>
              <a:t>~2.87x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59368" y="331927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Best observed speed-up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8549640" y="388620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59368" y="397764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000"/>
                </a:solidFill>
              </a:rPr>
              <a:t>8m51s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59368" y="432511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Best observed saving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8366760" y="512064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FFF5D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52852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92400E"/>
                </a:solidFill>
              </a:rPr>
              <a:t>4:44 is observed performance, not a guaranteed future runtime.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7</a:t>
            </a:r>
            <a:endParaRPr lang="en-US" sz="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</a:rPr>
              <a:t>Component-level comparison: before vs after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Comparable timed areas are shown side by side. Values are not additive and evidence boundaries differ.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88920" y="10058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4A000"/>
                </a:solidFill>
              </a:rPr>
              <a:t>Before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080760" y="10058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6A6"/>
                </a:solidFill>
              </a:rPr>
              <a:t>After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154533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838"/>
                </a:solidFill>
              </a:rPr>
              <a:t>Docker layer rebuild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667085"/>
                </a:solidFill>
              </a:rPr>
              <a:t>controlled warm rebuild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2788920" y="1472184"/>
            <a:ext cx="5279530" cy="201168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764792"/>
            <a:ext cx="345643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1602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77.9s</a:t>
            </a:r>
            <a:endParaRPr lang="en-US" sz="610" dirty="0"/>
          </a:p>
        </p:txBody>
      </p:sp>
      <p:sp>
        <p:nvSpPr>
          <p:cNvPr id="12" name="Text 10"/>
          <p:cNvSpPr/>
          <p:nvPr/>
        </p:nvSpPr>
        <p:spPr>
          <a:xfrm>
            <a:off x="3207715" y="178308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5.1s</a:t>
            </a:r>
            <a:endParaRPr lang="en-US" sz="610" dirty="0"/>
          </a:p>
        </p:txBody>
      </p:sp>
      <p:sp>
        <p:nvSpPr>
          <p:cNvPr id="13" name="Text 11"/>
          <p:cNvSpPr/>
          <p:nvPr/>
        </p:nvSpPr>
        <p:spPr>
          <a:xfrm>
            <a:off x="594360" y="23865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838"/>
                </a:solidFill>
              </a:rPr>
              <a:t>Runtime validation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594360" y="260604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667085"/>
                </a:solidFill>
              </a:rPr>
              <a:t>direct CI step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2788920" y="2313432"/>
            <a:ext cx="4473030" cy="201168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2606040"/>
            <a:ext cx="2304288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102" y="233172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66s</a:t>
            </a:r>
            <a:endParaRPr lang="en-US" sz="610" dirty="0"/>
          </a:p>
        </p:txBody>
      </p:sp>
      <p:sp>
        <p:nvSpPr>
          <p:cNvPr id="18" name="Text 16"/>
          <p:cNvSpPr/>
          <p:nvPr/>
        </p:nvSpPr>
        <p:spPr>
          <a:xfrm>
            <a:off x="5166360" y="2624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34s</a:t>
            </a:r>
            <a:endParaRPr lang="en-US" sz="610" dirty="0"/>
          </a:p>
        </p:txBody>
      </p:sp>
      <p:sp>
        <p:nvSpPr>
          <p:cNvPr id="19" name="Text 17"/>
          <p:cNvSpPr/>
          <p:nvPr/>
        </p:nvSpPr>
        <p:spPr>
          <a:xfrm>
            <a:off x="594360" y="32278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838"/>
                </a:solidFill>
              </a:rPr>
              <a:t>Adaptor info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94360" y="344728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667085"/>
                </a:solidFill>
              </a:rPr>
              <a:t>observed CI step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788920" y="3154680"/>
            <a:ext cx="1423237" cy="201168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3447288"/>
            <a:ext cx="745505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85309" y="31729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21s</a:t>
            </a:r>
            <a:endParaRPr lang="en-US" sz="610" dirty="0"/>
          </a:p>
        </p:txBody>
      </p:sp>
      <p:sp>
        <p:nvSpPr>
          <p:cNvPr id="24" name="Text 22"/>
          <p:cNvSpPr/>
          <p:nvPr/>
        </p:nvSpPr>
        <p:spPr>
          <a:xfrm>
            <a:off x="3607577" y="346557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11s</a:t>
            </a:r>
            <a:endParaRPr lang="en-US" sz="610" dirty="0"/>
          </a:p>
        </p:txBody>
      </p:sp>
      <p:sp>
        <p:nvSpPr>
          <p:cNvPr id="25" name="Text 23"/>
          <p:cNvSpPr/>
          <p:nvPr/>
        </p:nvSpPr>
        <p:spPr>
          <a:xfrm>
            <a:off x="594360" y="40690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838"/>
                </a:solidFill>
              </a:rPr>
              <a:t>Final Trivy path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594360" y="428853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667085"/>
                </a:solidFill>
              </a:rPr>
              <a:t>direct critical-path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788920" y="3995928"/>
            <a:ext cx="3320886" cy="201168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4288536"/>
            <a:ext cx="1016598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2958" y="401421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49s</a:t>
            </a:r>
            <a:endParaRPr lang="en-US" sz="610" dirty="0"/>
          </a:p>
        </p:txBody>
      </p:sp>
      <p:sp>
        <p:nvSpPr>
          <p:cNvPr id="30" name="Text 28"/>
          <p:cNvSpPr/>
          <p:nvPr/>
        </p:nvSpPr>
        <p:spPr>
          <a:xfrm>
            <a:off x="3878670" y="430682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15s</a:t>
            </a:r>
            <a:endParaRPr lang="en-US" sz="610" dirty="0"/>
          </a:p>
        </p:txBody>
      </p:sp>
      <p:sp>
        <p:nvSpPr>
          <p:cNvPr id="31" name="Text 29"/>
          <p:cNvSpPr/>
          <p:nvPr/>
        </p:nvSpPr>
        <p:spPr>
          <a:xfrm>
            <a:off x="594360" y="49103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838"/>
                </a:solidFill>
              </a:rPr>
              <a:t>Kafka Streams tail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94360" y="512978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667085"/>
                </a:solidFill>
              </a:rPr>
              <a:t>tail no longer observed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2788920" y="4837176"/>
            <a:ext cx="2033195" cy="201168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88920" y="5129784"/>
            <a:ext cx="27432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5267" y="485546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30s</a:t>
            </a:r>
            <a:endParaRPr lang="en-US" sz="610" dirty="0"/>
          </a:p>
        </p:txBody>
      </p:sp>
      <p:sp>
        <p:nvSpPr>
          <p:cNvPr id="36" name="Text 34"/>
          <p:cNvSpPr/>
          <p:nvPr/>
        </p:nvSpPr>
        <p:spPr>
          <a:xfrm>
            <a:off x="2862072" y="51480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1B2838"/>
                </a:solidFill>
              </a:rPr>
              <a:t>not observed</a:t>
            </a:r>
            <a:endParaRPr lang="en-US" sz="610" dirty="0"/>
          </a:p>
        </p:txBody>
      </p:sp>
      <p:sp>
        <p:nvSpPr>
          <p:cNvPr id="37" name="Shape 35"/>
          <p:cNvSpPr/>
          <p:nvPr/>
        </p:nvSpPr>
        <p:spPr>
          <a:xfrm>
            <a:off x="9144000" y="12344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37260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838"/>
                </a:solidFill>
              </a:rPr>
              <a:t>How to read this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372600" y="1815084"/>
            <a:ext cx="91440" cy="91440"/>
          </a:xfrm>
          <a:prstGeom prst="ellipse">
            <a:avLst/>
          </a:prstGeom>
          <a:solidFill>
            <a:srgbClr val="E95545"/>
          </a:solidFill>
          <a:ln w="12700">
            <a:solidFill>
              <a:srgbClr val="E95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37192" y="17830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Do not add rows together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372600" y="2089404"/>
            <a:ext cx="91440" cy="91440"/>
          </a:xfrm>
          <a:prstGeom prst="ellipse">
            <a:avLst/>
          </a:prstGeom>
          <a:solidFill>
            <a:srgbClr val="E95545"/>
          </a:solidFill>
          <a:ln w="12700">
            <a:solidFill>
              <a:srgbClr val="E95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37192" y="2057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Some are controlled Docker measurements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372600" y="2363724"/>
            <a:ext cx="91440" cy="91440"/>
          </a:xfrm>
          <a:prstGeom prst="ellipse">
            <a:avLst/>
          </a:prstGeom>
          <a:solidFill>
            <a:srgbClr val="E95545"/>
          </a:solidFill>
          <a:ln w="12700">
            <a:solidFill>
              <a:srgbClr val="E955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37192" y="2331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Some are direct CI measurements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14400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EAF8E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72600" y="3182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838"/>
                </a:solidFill>
              </a:rPr>
              <a:t>Structural changes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372600" y="3520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B2838"/>
                </a:solidFill>
              </a:rPr>
              <a:t>Testcontainers migration, aggregate concurrency and false-green protections are critical, but no isolated timing is claimed.</a:t>
            </a:r>
            <a:endParaRPr lang="en-US" sz="640" dirty="0"/>
          </a:p>
        </p:txBody>
      </p:sp>
      <p:sp>
        <p:nvSpPr>
          <p:cNvPr id="48" name="Text 46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49" name="Text 47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8</a:t>
            </a:r>
            <a:endParaRPr lang="en-US" sz="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</a:rPr>
              <a:t>What we deliberately preserved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The faster path must not reduce the validation surface.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14400" y="1143000"/>
            <a:ext cx="347472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41732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38"/>
                </a:solidFill>
              </a:rPr>
              <a:t>Validation retained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61872" y="1952244"/>
            <a:ext cx="91440" cy="9144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6464" y="19202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14 business scenarios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61872" y="2336292"/>
            <a:ext cx="91440" cy="9144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23042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Minimum feature/scenario guardrails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61872" y="2720340"/>
            <a:ext cx="91440" cy="9144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26883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Docker-required CI behaviour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61872" y="3104388"/>
            <a:ext cx="91440" cy="9144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6464" y="30723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Exact built-image validation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61872" y="3488436"/>
            <a:ext cx="91440" cy="9144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6464" y="34564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</a:rPr>
              <a:t>Trivy scanning/reporting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0" y="114300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EAF8E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46304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38"/>
                </a:solidFill>
              </a:rPr>
              <a:t>Guardrail principle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0574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A957"/>
                </a:solidFill>
              </a:rPr>
              <a:t>Faster CI is not an improvement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8A957"/>
                </a:solidFill>
              </a:rPr>
              <a:t>if fewer validations execute.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932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B2838"/>
                </a:solidFill>
              </a:rPr>
              <a:t>The optimisation is credible because scenario execution, exact image runtime checks and security scanning/reporting remain part of the pipeline.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9</a:t>
            </a:r>
            <a:endParaRPr lang="en-US" sz="5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</a:rPr>
              <a:t>What we chose not to keep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Rejected experiments reduced complexity and strengthened the final design.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835640" cy="347472"/>
          </a:xfrm>
          <a:prstGeom prst="rect">
            <a:avLst/>
          </a:prstGeom>
          <a:solidFill>
            <a:srgbClr val="071D2B"/>
          </a:solidFill>
          <a:ln w="12700">
            <a:solidFill>
              <a:srgbClr val="071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Experiment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657600" y="126187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Observation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9738360" y="126187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Decision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85800" y="1490472"/>
            <a:ext cx="10835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8249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B2838"/>
                </a:solidFill>
              </a:rPr>
              <a:t>Maven parallel build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3657600" y="1682496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No reproducible overall benefit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646920" y="168249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95545"/>
                </a:solidFill>
              </a:rPr>
              <a:t>Not retained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685800" y="2176272"/>
            <a:ext cx="10835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7EC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36829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B2838"/>
                </a:solidFill>
              </a:rPr>
              <a:t>Background image prefetch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3657600" y="2368296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Slower results and no consistent benefit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46920" y="236829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95545"/>
                </a:solidFill>
              </a:rPr>
              <a:t>Not retained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685800" y="2862072"/>
            <a:ext cx="10835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5409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B2838"/>
                </a:solidFill>
              </a:rPr>
              <a:t>Logging reduction for performance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3657600" y="3054096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No reproducible performance gain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646920" y="305409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95545"/>
                </a:solidFill>
              </a:rPr>
              <a:t>Not retained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685800" y="3547872"/>
            <a:ext cx="10835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7EC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73989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B2838"/>
                </a:solidFill>
              </a:rPr>
              <a:t>Readiness-result caching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3657600" y="3739896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Changed validation semantics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646920" y="373989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95545"/>
                </a:solidFill>
              </a:rPr>
              <a:t>Not retained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2468880" y="5120640"/>
            <a:ext cx="7132320" cy="502920"/>
          </a:xfrm>
          <a:prstGeom prst="roundRect">
            <a:avLst>
              <a:gd name="adj" fmla="val 14545"/>
            </a:avLst>
          </a:prstGeom>
          <a:solidFill>
            <a:srgbClr val="EAF8E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52852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8A957"/>
                </a:solidFill>
              </a:rPr>
              <a:t>Learning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3657600" y="5285232"/>
            <a:ext cx="5212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B2838"/>
                </a:solidFill>
              </a:rPr>
              <a:t>Evidence prevented unnecessary complexity and protected correctness.</a:t>
            </a:r>
            <a:endParaRPr lang="en-US" sz="640" dirty="0"/>
          </a:p>
        </p:txBody>
      </p:sp>
      <p:sp>
        <p:nvSpPr>
          <p:cNvPr id="28" name="Text 26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10</a:t>
            </a:r>
            <a:endParaRPr lang="en-US" sz="5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77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 and next step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4"/>
                </a:solidFill>
              </a:rPr>
              <a:t>Treat SNS as the reference implementation, then validate and standardise.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1732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000"/>
                </a:solidFill>
              </a:rPr>
              <a:t>13:35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14600" y="2331720"/>
            <a:ext cx="201168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57200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4:57 / 4:44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06640" y="182880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16368" y="192024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A6"/>
                </a:solidFill>
              </a:rPr>
              <a:t>~65.2% reduction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16368" y="226771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best observed comparison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7516368" y="2423160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8A94A6"/>
                </a:solidFill>
              </a:rPr>
              <a:t>~2.87x faster</a:t>
            </a:r>
            <a:endParaRPr lang="en-US" sz="520" dirty="0"/>
          </a:p>
        </p:txBody>
      </p:sp>
      <p:sp>
        <p:nvSpPr>
          <p:cNvPr id="11" name="Shape 9"/>
          <p:cNvSpPr/>
          <p:nvPr/>
        </p:nvSpPr>
        <p:spPr>
          <a:xfrm>
            <a:off x="914400" y="4663440"/>
            <a:ext cx="310896" cy="310896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5296" y="4818888"/>
            <a:ext cx="2514600" cy="0"/>
          </a:xfrm>
          <a:prstGeom prst="line">
            <a:avLst/>
          </a:prstGeom>
          <a:noFill/>
          <a:ln w="13970">
            <a:solidFill>
              <a:srgbClr val="355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5257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CBD5E1"/>
                </a:solidFill>
              </a:rPr>
              <a:t>Validate SNS as</a:t>
            </a:r>
            <a:endParaRPr lang="en-US" sz="590" dirty="0"/>
          </a:p>
          <a:p>
            <a:pPr algn="ctr" indent="0" marL="0">
              <a:buNone/>
            </a:pPr>
            <a:r>
              <a:rPr lang="en-US" sz="590" dirty="0">
                <a:solidFill>
                  <a:srgbClr val="CBD5E1"/>
                </a:solidFill>
              </a:rPr>
              <a:t>reference case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3703320" y="4663440"/>
            <a:ext cx="310896" cy="310896"/>
          </a:xfrm>
          <a:prstGeom prst="ellipse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14216" y="4818888"/>
            <a:ext cx="2514600" cy="0"/>
          </a:xfrm>
          <a:prstGeom prst="line">
            <a:avLst/>
          </a:prstGeom>
          <a:noFill/>
          <a:ln w="13970">
            <a:solidFill>
              <a:srgbClr val="355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5257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CBD5E1"/>
                </a:solidFill>
              </a:rPr>
              <a:t>Apply to 2–3</a:t>
            </a:r>
            <a:endParaRPr lang="en-US" sz="590" dirty="0"/>
          </a:p>
          <a:p>
            <a:pPr algn="ctr" indent="0" marL="0">
              <a:buNone/>
            </a:pPr>
            <a:r>
              <a:rPr lang="en-US" sz="590" dirty="0">
                <a:solidFill>
                  <a:srgbClr val="CBD5E1"/>
                </a:solidFill>
              </a:rPr>
              <a:t>representative repos</a:t>
            </a:r>
            <a:endParaRPr lang="en-US" sz="590" dirty="0"/>
          </a:p>
        </p:txBody>
      </p:sp>
      <p:sp>
        <p:nvSpPr>
          <p:cNvPr id="17" name="Shape 15"/>
          <p:cNvSpPr/>
          <p:nvPr/>
        </p:nvSpPr>
        <p:spPr>
          <a:xfrm>
            <a:off x="6492240" y="4663440"/>
            <a:ext cx="310896" cy="310896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3136" y="4818888"/>
            <a:ext cx="2514600" cy="0"/>
          </a:xfrm>
          <a:prstGeom prst="line">
            <a:avLst/>
          </a:prstGeom>
          <a:noFill/>
          <a:ln w="13970">
            <a:solidFill>
              <a:srgbClr val="355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5257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CBD5E1"/>
                </a:solidFill>
              </a:rPr>
              <a:t>Define standard</a:t>
            </a:r>
            <a:endParaRPr lang="en-US" sz="590" dirty="0"/>
          </a:p>
          <a:p>
            <a:pPr algn="ctr" indent="0" marL="0">
              <a:buNone/>
            </a:pPr>
            <a:r>
              <a:rPr lang="en-US" sz="590" dirty="0">
                <a:solidFill>
                  <a:srgbClr val="CBD5E1"/>
                </a:solidFill>
              </a:rPr>
              <a:t>and guardrails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9281160" y="4663440"/>
            <a:ext cx="310896" cy="310896"/>
          </a:xfrm>
          <a:prstGeom prst="ellipse">
            <a:avLst/>
          </a:prstGeom>
          <a:solidFill>
            <a:srgbClr val="2F6EEB"/>
          </a:solidFill>
          <a:ln w="12700">
            <a:solidFill>
              <a:srgbClr val="2F6E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5257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CBD5E1"/>
                </a:solidFill>
              </a:rPr>
              <a:t>Run technical</a:t>
            </a:r>
            <a:endParaRPr lang="en-US" sz="590" dirty="0"/>
          </a:p>
          <a:p>
            <a:pPr algn="ctr" indent="0" marL="0">
              <a:buNone/>
            </a:pPr>
            <a:r>
              <a:rPr lang="en-US" sz="590" dirty="0">
                <a:solidFill>
                  <a:srgbClr val="CBD5E1"/>
                </a:solidFill>
              </a:rPr>
              <a:t>enablement session</a:t>
            </a:r>
            <a:endParaRPr lang="en-US" sz="590" dirty="0"/>
          </a:p>
        </p:txBody>
      </p:sp>
      <p:sp>
        <p:nvSpPr>
          <p:cNvPr id="22" name="Text 20"/>
          <p:cNvSpPr/>
          <p:nvPr/>
        </p:nvSpPr>
        <p:spPr>
          <a:xfrm>
            <a:off x="3383280" y="614476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7B5C4"/>
                </a:solidFill>
              </a:rPr>
              <a:t>Closing message: measure, redesign, protect correctness, validate, standardise.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1148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FDP Command Adaptor SNS — CI/CD Optimisation</a:t>
            </a:r>
            <a:endParaRPr lang="en-US" sz="580" dirty="0"/>
          </a:p>
        </p:txBody>
      </p:sp>
      <p:sp>
        <p:nvSpPr>
          <p:cNvPr id="24" name="Text 22"/>
          <p:cNvSpPr/>
          <p:nvPr/>
        </p:nvSpPr>
        <p:spPr>
          <a:xfrm>
            <a:off x="11658600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A0AEC0"/>
                </a:solidFill>
              </a:rPr>
              <a:t>11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FDP CI/CD Optimisation — SNS Reference Implementation</dc:title>
  <dc:subject>FDP Command Adaptor SNS CI/CD Optimisation</dc:subject>
  <dc:creator>OpenAI</dc:creator>
  <cp:lastModifiedBy>OpenAI</cp:lastModifiedBy>
  <cp:revision>1</cp:revision>
  <dcterms:created xsi:type="dcterms:W3CDTF">2026-08-14T01:09:39Z</dcterms:created>
  <dcterms:modified xsi:type="dcterms:W3CDTF">2026-08-14T01:09:39Z</dcterms:modified>
</cp:coreProperties>
</file>