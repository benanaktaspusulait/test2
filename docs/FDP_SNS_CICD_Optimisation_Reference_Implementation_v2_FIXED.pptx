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_rels/notesSlide11.xml.rels" ContentType="application/vnd.openxmlformats-package.relationships+xml"/>
  <Override PartName="/ppt/notesSlides/_rels/notesSlide4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Click to move the slide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C99E25B0-3955-4AE0-96E4-CF5D499A231C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Opening: This is an engineering reference implementation, not just a one-off speed-up.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Internal SNS CI/CD optimisation documentation and measured pipeline timings.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8234190-FC1B-4B43-B234-EE310331301A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This slide frames the problem as a cross-cutting engineering issue.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Internal SNS optimisation overview and results pages.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32FB87F-6BD2-446B-A7C9-8C399B6EDEA6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7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Baseline evidence comes from ten successful runs. Visible steps overlap and are not additive.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Internal Results, Engineering Learnings &amp; Reuse Guide.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6429B48-F0DF-494A-B36B-D06C9CDF9CD7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7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The before diagram is conceptual. It shows lifecycle distributed across Compose and CI.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Internal Docker &amp; CI Pipeline Optimisation page.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465C0C2-CB8C-43F8-909C-A5F3DD688BD4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This slide summarises the changes without code detail.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Internal Confluence draft pages.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10831FD-FABE-4424-AA8D-B0BE6DA9A8F6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The after diagram shows key dependency relationships, especially Trivy DB preparation overlapping useful work.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Internal Docker &amp; CI Pipeline Optimisation page.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D837DC2-DFD3-4488-B80A-8613D3927CAA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This is the high-level before/after result. The baseline is an average of ten successful runs; after values are two measured optimised runs.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Internal Results, Engineering Learnings &amp; Reuse Guide.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FC95FDE-0235-4EEF-BEEC-3E40D12608D2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This is the requested component-level before/after comparison. It deliberately excludes Testcontainers as a numeric before/after row because the old and new scopes are not one-to-one.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Internal Results, Engineering Learnings &amp; Reuse Guide.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EAA1ED2-E538-439F-B214-6313E7D93D0D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This slide answers the obvious risk question: what was preserved?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Internal Testcontainers and Built-Image validation pages.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DC010B5-43EC-44C1-AEAE-68466F5920B2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This slide is about experiments not retained, not about validations we preserved.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Internal Results, Engineering Learnings &amp; Reuse Guide.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720194D-1CD3-41BF-996E-02AD241A088B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Closing script: This is now a reusable reference implementation. The next step is to validate the approach on 2–3 representative repositories and turn it into a standard.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Internal Results and Reuse Guide.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74630D0-3ECB-471F-82EF-EEDF779F99B6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Click to edit the title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d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502920" y="594360"/>
            <a:ext cx="2560320" cy="360"/>
          </a:xfrm>
          <a:prstGeom prst="line">
            <a:avLst/>
          </a:prstGeom>
          <a:ln w="25400">
            <a:solidFill>
              <a:srgbClr val="00a6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" name="Text 1"/>
          <p:cNvSpPr/>
          <p:nvPr/>
        </p:nvSpPr>
        <p:spPr>
          <a:xfrm>
            <a:off x="502920" y="1051560"/>
            <a:ext cx="6217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FDP CI/CD Optimisation</a:t>
            </a:r>
            <a:endParaRPr b="0" lang="en-US" sz="3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" name="Text 2"/>
          <p:cNvSpPr/>
          <p:nvPr/>
        </p:nvSpPr>
        <p:spPr>
          <a:xfrm>
            <a:off x="502920" y="1572840"/>
            <a:ext cx="5120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3ec7c6"/>
                </a:solidFill>
                <a:effectLst/>
                <a:uFillTx/>
                <a:latin typeface="Aptos"/>
              </a:rPr>
              <a:t>SNS reference implementation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3"/>
          <p:cNvSpPr/>
          <p:nvPr/>
        </p:nvSpPr>
        <p:spPr>
          <a:xfrm>
            <a:off x="502920" y="2030040"/>
            <a:ext cx="6583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cbd5e1"/>
                </a:solidFill>
                <a:effectLst/>
                <a:uFillTx/>
                <a:latin typeface="Aptos"/>
              </a:rPr>
              <a:t>Reducing CI feedback time while preserving test, runtime and security validation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Shape 4"/>
          <p:cNvSpPr/>
          <p:nvPr/>
        </p:nvSpPr>
        <p:spPr>
          <a:xfrm>
            <a:off x="8915400" y="868680"/>
            <a:ext cx="1965600" cy="71280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7ecf3"/>
            </a:solidFill>
            <a:round/>
          </a:ln>
          <a:effectLst>
            <a:outerShdw algn="bl" blurRad="19080" dir="2700000" dist="9673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5"/>
          <p:cNvSpPr/>
          <p:nvPr/>
        </p:nvSpPr>
        <p:spPr>
          <a:xfrm>
            <a:off x="9025200" y="960120"/>
            <a:ext cx="17460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f4a000"/>
                </a:solidFill>
                <a:effectLst/>
                <a:uFillTx/>
                <a:latin typeface="Aptos"/>
              </a:rPr>
              <a:t>13:35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6"/>
          <p:cNvSpPr/>
          <p:nvPr/>
        </p:nvSpPr>
        <p:spPr>
          <a:xfrm>
            <a:off x="9025200" y="1307520"/>
            <a:ext cx="17460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60" strike="noStrike" u="none">
                <a:solidFill>
                  <a:srgbClr val="667085"/>
                </a:solidFill>
                <a:effectLst/>
                <a:uFillTx/>
                <a:latin typeface="Aptos"/>
              </a:rPr>
              <a:t>Baseline avg</a:t>
            </a:r>
            <a:endParaRPr b="0" lang="en-US" sz="66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7"/>
          <p:cNvSpPr/>
          <p:nvPr/>
        </p:nvSpPr>
        <p:spPr>
          <a:xfrm>
            <a:off x="9025200" y="1463040"/>
            <a:ext cx="1746000" cy="10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520" strike="noStrike" u="none">
                <a:solidFill>
                  <a:srgbClr val="8a94a6"/>
                </a:solidFill>
                <a:effectLst/>
                <a:uFillTx/>
                <a:latin typeface="Aptos"/>
              </a:rPr>
              <a:t>N=10 successful runs</a:t>
            </a:r>
            <a:endParaRPr b="0" lang="en-US" sz="5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Shape 8"/>
          <p:cNvSpPr/>
          <p:nvPr/>
        </p:nvSpPr>
        <p:spPr>
          <a:xfrm>
            <a:off x="8915400" y="1828800"/>
            <a:ext cx="1965600" cy="71280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7ecf3"/>
            </a:solidFill>
            <a:round/>
          </a:ln>
          <a:effectLst>
            <a:outerShdw algn="bl" blurRad="19080" dir="2700000" dist="9673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9"/>
          <p:cNvSpPr/>
          <p:nvPr/>
        </p:nvSpPr>
        <p:spPr>
          <a:xfrm>
            <a:off x="9025200" y="1920240"/>
            <a:ext cx="17460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00a6a6"/>
                </a:solidFill>
                <a:effectLst/>
                <a:uFillTx/>
                <a:latin typeface="Aptos"/>
              </a:rPr>
              <a:t>4:44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10"/>
          <p:cNvSpPr/>
          <p:nvPr/>
        </p:nvSpPr>
        <p:spPr>
          <a:xfrm>
            <a:off x="9025200" y="2267640"/>
            <a:ext cx="17460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60" strike="noStrike" u="none">
                <a:solidFill>
                  <a:srgbClr val="667085"/>
                </a:solidFill>
                <a:effectLst/>
                <a:uFillTx/>
                <a:latin typeface="Aptos"/>
              </a:rPr>
              <a:t>Optimised best</a:t>
            </a:r>
            <a:endParaRPr b="0" lang="en-US" sz="66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11"/>
          <p:cNvSpPr/>
          <p:nvPr/>
        </p:nvSpPr>
        <p:spPr>
          <a:xfrm>
            <a:off x="9025200" y="2423160"/>
            <a:ext cx="1746000" cy="10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520" strike="noStrike" u="none">
                <a:solidFill>
                  <a:srgbClr val="8a94a6"/>
                </a:solidFill>
                <a:effectLst/>
                <a:uFillTx/>
                <a:latin typeface="Aptos"/>
              </a:rPr>
              <a:t>observed run</a:t>
            </a:r>
            <a:endParaRPr b="0" lang="en-US" sz="5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Shape 12"/>
          <p:cNvSpPr/>
          <p:nvPr/>
        </p:nvSpPr>
        <p:spPr>
          <a:xfrm>
            <a:off x="8915400" y="2788920"/>
            <a:ext cx="1965600" cy="71280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7ecf3"/>
            </a:solidFill>
            <a:round/>
          </a:ln>
          <a:effectLst>
            <a:outerShdw algn="bl" blurRad="19080" dir="2700000" dist="9673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13"/>
          <p:cNvSpPr/>
          <p:nvPr/>
        </p:nvSpPr>
        <p:spPr>
          <a:xfrm>
            <a:off x="9025200" y="2880360"/>
            <a:ext cx="17460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18a957"/>
                </a:solidFill>
                <a:effectLst/>
                <a:uFillTx/>
                <a:latin typeface="Aptos"/>
              </a:rPr>
              <a:t>~65%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14"/>
          <p:cNvSpPr/>
          <p:nvPr/>
        </p:nvSpPr>
        <p:spPr>
          <a:xfrm>
            <a:off x="9025200" y="3227760"/>
            <a:ext cx="17460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60" strike="noStrike" u="none">
                <a:solidFill>
                  <a:srgbClr val="667085"/>
                </a:solidFill>
                <a:effectLst/>
                <a:uFillTx/>
                <a:latin typeface="Aptos"/>
              </a:rPr>
              <a:t>Best reduction</a:t>
            </a:r>
            <a:endParaRPr b="0" lang="en-US" sz="66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15"/>
          <p:cNvSpPr/>
          <p:nvPr/>
        </p:nvSpPr>
        <p:spPr>
          <a:xfrm>
            <a:off x="9025200" y="3383280"/>
            <a:ext cx="1746000" cy="10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520" strike="noStrike" u="none">
                <a:solidFill>
                  <a:srgbClr val="8a94a6"/>
                </a:solidFill>
                <a:effectLst/>
                <a:uFillTx/>
                <a:latin typeface="Aptos"/>
              </a:rPr>
              <a:t>~2.87x faster</a:t>
            </a:r>
            <a:endParaRPr b="0" lang="en-US" sz="5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16"/>
          <p:cNvSpPr/>
          <p:nvPr/>
        </p:nvSpPr>
        <p:spPr>
          <a:xfrm>
            <a:off x="502920" y="5806440"/>
            <a:ext cx="65833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trike="noStrike" u="none">
                <a:solidFill>
                  <a:srgbClr val="94a3b8"/>
                </a:solidFill>
                <a:effectLst/>
                <a:uFillTx/>
                <a:latin typeface="Aptos"/>
              </a:rPr>
              <a:t>Evidence-led redesign • Reference implementation • Reusable engineering pattern</a:t>
            </a:r>
            <a:endParaRPr b="0" lang="en-US" sz="7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17"/>
          <p:cNvSpPr/>
          <p:nvPr/>
        </p:nvSpPr>
        <p:spPr>
          <a:xfrm>
            <a:off x="502920" y="6080760"/>
            <a:ext cx="62175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620" strike="noStrike" u="none">
                <a:solidFill>
                  <a:srgbClr val="64748b"/>
                </a:solidFill>
                <a:effectLst/>
                <a:uFillTx/>
                <a:latin typeface="Aptos"/>
              </a:rPr>
              <a:t>Note: Optimised timings are observed results, not guaranteed future runtimes.</a:t>
            </a:r>
            <a:endParaRPr b="0" lang="en-US" sz="6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18"/>
          <p:cNvSpPr/>
          <p:nvPr/>
        </p:nvSpPr>
        <p:spPr>
          <a:xfrm>
            <a:off x="411480" y="6546960"/>
            <a:ext cx="53031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580" strike="noStrike" u="none">
                <a:solidFill>
                  <a:srgbClr val="a0aec0"/>
                </a:solidFill>
                <a:effectLst/>
                <a:uFillTx/>
                <a:latin typeface="Aptos"/>
              </a:rPr>
              <a:t>FDP Command Adaptor SNS — CI/CD Optimisation</a:t>
            </a:r>
            <a:endParaRPr b="0" lang="en-US" sz="58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19"/>
          <p:cNvSpPr/>
          <p:nvPr/>
        </p:nvSpPr>
        <p:spPr>
          <a:xfrm>
            <a:off x="11658600" y="6528960"/>
            <a:ext cx="2008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580" strike="noStrike" u="none">
                <a:solidFill>
                  <a:srgbClr val="a0aec0"/>
                </a:solidFill>
                <a:effectLst/>
                <a:uFillTx/>
                <a:latin typeface="Aptos"/>
              </a:rPr>
              <a:t>1</a:t>
            </a:r>
            <a:endParaRPr b="0" lang="en-US" sz="58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hape 0"/>
          <p:cNvSpPr/>
          <p:nvPr/>
        </p:nvSpPr>
        <p:spPr>
          <a:xfrm>
            <a:off x="0" y="0"/>
            <a:ext cx="12191400" cy="5436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1"/>
          <p:cNvSpPr/>
          <p:nvPr/>
        </p:nvSpPr>
        <p:spPr>
          <a:xfrm>
            <a:off x="411480" y="320040"/>
            <a:ext cx="98751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1b2838"/>
                </a:solidFill>
                <a:effectLst/>
                <a:uFillTx/>
                <a:latin typeface="Aptos"/>
              </a:rPr>
              <a:t>Why this was worth looking at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2"/>
          <p:cNvSpPr/>
          <p:nvPr/>
        </p:nvSpPr>
        <p:spPr>
          <a:xfrm>
            <a:off x="411480" y="713160"/>
            <a:ext cx="9600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67085"/>
                </a:solidFill>
                <a:effectLst/>
                <a:uFillTx/>
                <a:latin typeface="Aptos"/>
              </a:rPr>
              <a:t>The issue was not just a slow build. It was distributed ownership and hidden waste.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3"/>
          <p:cNvSpPr/>
          <p:nvPr/>
        </p:nvSpPr>
        <p:spPr>
          <a:xfrm>
            <a:off x="640080" y="1225440"/>
            <a:ext cx="255600" cy="255600"/>
          </a:xfrm>
          <a:prstGeom prst="roundRect">
            <a:avLst>
              <a:gd name="adj" fmla="val 10714"/>
            </a:avLst>
          </a:prstGeom>
          <a:solidFill>
            <a:srgbClr val="00a6a6"/>
          </a:solidFill>
          <a:ln w="12700">
            <a:solidFill>
              <a:srgbClr val="00a6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4"/>
          <p:cNvSpPr/>
          <p:nvPr/>
        </p:nvSpPr>
        <p:spPr>
          <a:xfrm>
            <a:off x="1005840" y="1216080"/>
            <a:ext cx="31086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1b2838"/>
                </a:solidFill>
                <a:effectLst/>
                <a:uFillTx/>
                <a:latin typeface="Aptos"/>
              </a:rPr>
              <a:t>Slow feedback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5"/>
          <p:cNvSpPr/>
          <p:nvPr/>
        </p:nvSpPr>
        <p:spPr>
          <a:xfrm>
            <a:off x="1005840" y="1481400"/>
            <a:ext cx="45716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60" strike="noStrike" u="none">
                <a:solidFill>
                  <a:srgbClr val="667085"/>
                </a:solidFill>
                <a:effectLst/>
                <a:uFillTx/>
                <a:latin typeface="Aptos"/>
              </a:rPr>
              <a:t>Successful CI averaged 13:35, which stretched every feedback loop.</a:t>
            </a:r>
            <a:endParaRPr b="0" lang="en-US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Shape 6"/>
          <p:cNvSpPr/>
          <p:nvPr/>
        </p:nvSpPr>
        <p:spPr>
          <a:xfrm>
            <a:off x="640080" y="2157840"/>
            <a:ext cx="255600" cy="255600"/>
          </a:xfrm>
          <a:prstGeom prst="roundRect">
            <a:avLst>
              <a:gd name="adj" fmla="val 10714"/>
            </a:avLst>
          </a:prstGeom>
          <a:solidFill>
            <a:srgbClr val="2f6eeb"/>
          </a:solidFill>
          <a:ln w="12700">
            <a:solidFill>
              <a:srgbClr val="2f6e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7"/>
          <p:cNvSpPr/>
          <p:nvPr/>
        </p:nvSpPr>
        <p:spPr>
          <a:xfrm>
            <a:off x="1005840" y="2148840"/>
            <a:ext cx="31086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1b2838"/>
                </a:solidFill>
                <a:effectLst/>
                <a:uFillTx/>
                <a:latin typeface="Aptos"/>
              </a:rPr>
              <a:t>Distributed lifecycle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8"/>
          <p:cNvSpPr/>
          <p:nvPr/>
        </p:nvSpPr>
        <p:spPr>
          <a:xfrm>
            <a:off x="1005840" y="2414160"/>
            <a:ext cx="45716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60" strike="noStrike" u="none">
                <a:solidFill>
                  <a:srgbClr val="667085"/>
                </a:solidFill>
                <a:effectLst/>
                <a:uFillTx/>
                <a:latin typeface="Aptos"/>
              </a:rPr>
              <a:t>Kafka, Redis, aggregates, command adaptor and tests were owned across different CI stages.</a:t>
            </a:r>
            <a:endParaRPr b="0" lang="en-US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Shape 9"/>
          <p:cNvSpPr/>
          <p:nvPr/>
        </p:nvSpPr>
        <p:spPr>
          <a:xfrm>
            <a:off x="640080" y="3090600"/>
            <a:ext cx="255600" cy="255600"/>
          </a:xfrm>
          <a:prstGeom prst="roundRect">
            <a:avLst>
              <a:gd name="adj" fmla="val 10714"/>
            </a:avLst>
          </a:prstGeom>
          <a:solidFill>
            <a:srgbClr val="00a6a6"/>
          </a:solidFill>
          <a:ln w="12700">
            <a:solidFill>
              <a:srgbClr val="00a6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10"/>
          <p:cNvSpPr/>
          <p:nvPr/>
        </p:nvSpPr>
        <p:spPr>
          <a:xfrm>
            <a:off x="1005840" y="3081600"/>
            <a:ext cx="31086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1b2838"/>
                </a:solidFill>
                <a:effectLst/>
                <a:uFillTx/>
                <a:latin typeface="Aptos"/>
              </a:rPr>
              <a:t>Hidden ownership gaps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11"/>
          <p:cNvSpPr/>
          <p:nvPr/>
        </p:nvSpPr>
        <p:spPr>
          <a:xfrm>
            <a:off x="1005840" y="3346560"/>
            <a:ext cx="45716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60" strike="noStrike" u="none">
                <a:solidFill>
                  <a:srgbClr val="667085"/>
                </a:solidFill>
                <a:effectLst/>
                <a:uFillTx/>
                <a:latin typeface="Aptos"/>
              </a:rPr>
              <a:t>Long-running pipelines had become normalised rather than actively challenged.</a:t>
            </a:r>
            <a:endParaRPr b="0" lang="en-US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Shape 12"/>
          <p:cNvSpPr/>
          <p:nvPr/>
        </p:nvSpPr>
        <p:spPr>
          <a:xfrm>
            <a:off x="640080" y="4023360"/>
            <a:ext cx="255600" cy="255600"/>
          </a:xfrm>
          <a:prstGeom prst="roundRect">
            <a:avLst>
              <a:gd name="adj" fmla="val 10714"/>
            </a:avLst>
          </a:prstGeom>
          <a:solidFill>
            <a:srgbClr val="2f6eeb"/>
          </a:solidFill>
          <a:ln w="12700">
            <a:solidFill>
              <a:srgbClr val="2f6e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13"/>
          <p:cNvSpPr/>
          <p:nvPr/>
        </p:nvSpPr>
        <p:spPr>
          <a:xfrm>
            <a:off x="1005840" y="4014360"/>
            <a:ext cx="31086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1b2838"/>
                </a:solidFill>
                <a:effectLst/>
                <a:uFillTx/>
                <a:latin typeface="Aptos"/>
              </a:rPr>
              <a:t>Risk of false gains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14"/>
          <p:cNvSpPr/>
          <p:nvPr/>
        </p:nvSpPr>
        <p:spPr>
          <a:xfrm>
            <a:off x="1005840" y="4279320"/>
            <a:ext cx="45716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60" strike="noStrike" u="none">
                <a:solidFill>
                  <a:srgbClr val="667085"/>
                </a:solidFill>
                <a:effectLst/>
                <a:uFillTx/>
                <a:latin typeface="Aptos"/>
              </a:rPr>
              <a:t>A faster result is only useful if business scenarios, image validation and security checks remain intact.</a:t>
            </a:r>
            <a:endParaRPr b="0" lang="en-US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Shape 15"/>
          <p:cNvSpPr/>
          <p:nvPr/>
        </p:nvSpPr>
        <p:spPr>
          <a:xfrm>
            <a:off x="6583680" y="1417320"/>
            <a:ext cx="4205880" cy="2194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7ecf3"/>
            </a:solidFill>
            <a:round/>
          </a:ln>
          <a:effectLst>
            <a:outerShdw algn="bl" blurRad="19080" dir="2700000" dist="9673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16"/>
          <p:cNvSpPr/>
          <p:nvPr/>
        </p:nvSpPr>
        <p:spPr>
          <a:xfrm>
            <a:off x="6903720" y="1691640"/>
            <a:ext cx="34743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1b2838"/>
                </a:solidFill>
                <a:effectLst/>
                <a:uFillTx/>
                <a:latin typeface="Aptos"/>
              </a:rPr>
              <a:t>Core challenge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17"/>
          <p:cNvSpPr/>
          <p:nvPr/>
        </p:nvSpPr>
        <p:spPr>
          <a:xfrm>
            <a:off x="6903720" y="2148840"/>
            <a:ext cx="32914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00a6a6"/>
                </a:solidFill>
                <a:effectLst/>
                <a:uFillTx/>
                <a:latin typeface="Aptos"/>
              </a:rPr>
              <a:t>Make the pipeline faster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00a6a6"/>
                </a:solidFill>
                <a:effectLst/>
                <a:uFillTx/>
                <a:latin typeface="Aptos"/>
              </a:rPr>
              <a:t>without making it weaker.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18"/>
          <p:cNvSpPr/>
          <p:nvPr/>
        </p:nvSpPr>
        <p:spPr>
          <a:xfrm>
            <a:off x="6903720" y="2971800"/>
            <a:ext cx="22856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trike="noStrike" u="none">
                <a:solidFill>
                  <a:srgbClr val="667085"/>
                </a:solidFill>
                <a:effectLst/>
                <a:uFillTx/>
                <a:latin typeface="Aptos"/>
              </a:rPr>
              <a:t>That meant retaining: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19"/>
          <p:cNvSpPr/>
          <p:nvPr/>
        </p:nvSpPr>
        <p:spPr>
          <a:xfrm>
            <a:off x="6995160" y="3305520"/>
            <a:ext cx="91080" cy="91080"/>
          </a:xfrm>
          <a:prstGeom prst="ellipse">
            <a:avLst/>
          </a:prstGeom>
          <a:solidFill>
            <a:srgbClr val="18a957"/>
          </a:solidFill>
          <a:ln w="12700">
            <a:solidFill>
              <a:srgbClr val="18a95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20"/>
          <p:cNvSpPr/>
          <p:nvPr/>
        </p:nvSpPr>
        <p:spPr>
          <a:xfrm>
            <a:off x="7159680" y="3273480"/>
            <a:ext cx="20113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1b2838"/>
                </a:solidFill>
                <a:effectLst/>
                <a:uFillTx/>
                <a:latin typeface="Aptos"/>
              </a:rPr>
              <a:t>Business scenarios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Shape 21"/>
          <p:cNvSpPr/>
          <p:nvPr/>
        </p:nvSpPr>
        <p:spPr>
          <a:xfrm>
            <a:off x="6995160" y="3579840"/>
            <a:ext cx="91080" cy="91080"/>
          </a:xfrm>
          <a:prstGeom prst="ellipse">
            <a:avLst/>
          </a:prstGeom>
          <a:solidFill>
            <a:srgbClr val="18a957"/>
          </a:solidFill>
          <a:ln w="12700">
            <a:solidFill>
              <a:srgbClr val="18a95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22"/>
          <p:cNvSpPr/>
          <p:nvPr/>
        </p:nvSpPr>
        <p:spPr>
          <a:xfrm>
            <a:off x="7159680" y="3547800"/>
            <a:ext cx="20113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1b2838"/>
                </a:solidFill>
                <a:effectLst/>
                <a:uFillTx/>
                <a:latin typeface="Aptos"/>
              </a:rPr>
              <a:t>Exact image validation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Shape 23"/>
          <p:cNvSpPr/>
          <p:nvPr/>
        </p:nvSpPr>
        <p:spPr>
          <a:xfrm>
            <a:off x="6995160" y="3854160"/>
            <a:ext cx="91080" cy="91080"/>
          </a:xfrm>
          <a:prstGeom prst="ellipse">
            <a:avLst/>
          </a:prstGeom>
          <a:solidFill>
            <a:srgbClr val="18a957"/>
          </a:solidFill>
          <a:ln w="12700">
            <a:solidFill>
              <a:srgbClr val="18a95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24"/>
          <p:cNvSpPr/>
          <p:nvPr/>
        </p:nvSpPr>
        <p:spPr>
          <a:xfrm>
            <a:off x="7159680" y="3822120"/>
            <a:ext cx="22856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1b2838"/>
                </a:solidFill>
                <a:effectLst/>
                <a:uFillTx/>
                <a:latin typeface="Aptos"/>
              </a:rPr>
              <a:t>Security scanning/reporting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Shape 25"/>
          <p:cNvSpPr/>
          <p:nvPr/>
        </p:nvSpPr>
        <p:spPr>
          <a:xfrm>
            <a:off x="6995160" y="4128480"/>
            <a:ext cx="91080" cy="91080"/>
          </a:xfrm>
          <a:prstGeom prst="ellipse">
            <a:avLst/>
          </a:prstGeom>
          <a:solidFill>
            <a:srgbClr val="18a957"/>
          </a:solidFill>
          <a:ln w="12700">
            <a:solidFill>
              <a:srgbClr val="18a95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26"/>
          <p:cNvSpPr/>
          <p:nvPr/>
        </p:nvSpPr>
        <p:spPr>
          <a:xfrm>
            <a:off x="7159680" y="4096440"/>
            <a:ext cx="18284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1b2838"/>
                </a:solidFill>
                <a:effectLst/>
                <a:uFillTx/>
                <a:latin typeface="Aptos"/>
              </a:rPr>
              <a:t>Failure diagnostics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27"/>
          <p:cNvSpPr/>
          <p:nvPr/>
        </p:nvSpPr>
        <p:spPr>
          <a:xfrm>
            <a:off x="411480" y="6546960"/>
            <a:ext cx="53031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580" strike="noStrike" u="none">
                <a:solidFill>
                  <a:srgbClr val="a0aec0"/>
                </a:solidFill>
                <a:effectLst/>
                <a:uFillTx/>
                <a:latin typeface="Aptos"/>
              </a:rPr>
              <a:t>FDP Command Adaptor SNS — CI/CD Optimisation</a:t>
            </a:r>
            <a:endParaRPr b="0" lang="en-US" sz="5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28"/>
          <p:cNvSpPr/>
          <p:nvPr/>
        </p:nvSpPr>
        <p:spPr>
          <a:xfrm>
            <a:off x="11658600" y="6528960"/>
            <a:ext cx="2008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580" strike="noStrike" u="none">
                <a:solidFill>
                  <a:srgbClr val="a0aec0"/>
                </a:solidFill>
                <a:effectLst/>
                <a:uFillTx/>
                <a:latin typeface="Aptos"/>
              </a:rPr>
              <a:t>2</a:t>
            </a:r>
            <a:endParaRPr b="0" lang="en-US" sz="5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0"/>
          <p:cNvSpPr/>
          <p:nvPr/>
        </p:nvSpPr>
        <p:spPr>
          <a:xfrm>
            <a:off x="0" y="0"/>
            <a:ext cx="12191400" cy="5436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1"/>
          <p:cNvSpPr/>
          <p:nvPr/>
        </p:nvSpPr>
        <p:spPr>
          <a:xfrm>
            <a:off x="411480" y="320040"/>
            <a:ext cx="98751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1b2838"/>
                </a:solidFill>
                <a:effectLst/>
                <a:uFillTx/>
                <a:latin typeface="Aptos"/>
              </a:rPr>
              <a:t>Baseline evidence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2"/>
          <p:cNvSpPr/>
          <p:nvPr/>
        </p:nvSpPr>
        <p:spPr>
          <a:xfrm>
            <a:off x="411480" y="713160"/>
            <a:ext cx="9600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67085"/>
                </a:solidFill>
                <a:effectLst/>
                <a:uFillTx/>
                <a:latin typeface="Aptos"/>
              </a:rPr>
              <a:t>Measured before changing the pipeline. Successful runs only; visible step durations overlap.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Shape 3"/>
          <p:cNvSpPr/>
          <p:nvPr/>
        </p:nvSpPr>
        <p:spPr>
          <a:xfrm>
            <a:off x="502920" y="960120"/>
            <a:ext cx="1325520" cy="71280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7ecf3"/>
            </a:solidFill>
            <a:round/>
          </a:ln>
          <a:effectLst>
            <a:outerShdw algn="bl" blurRad="19080" dir="2700000" dist="9673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4"/>
          <p:cNvSpPr/>
          <p:nvPr/>
        </p:nvSpPr>
        <p:spPr>
          <a:xfrm>
            <a:off x="612720" y="1051560"/>
            <a:ext cx="11059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f4a000"/>
                </a:solidFill>
                <a:effectLst/>
                <a:uFillTx/>
                <a:latin typeface="Aptos"/>
              </a:rPr>
              <a:t>13:35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5"/>
          <p:cNvSpPr/>
          <p:nvPr/>
        </p:nvSpPr>
        <p:spPr>
          <a:xfrm>
            <a:off x="612720" y="1398960"/>
            <a:ext cx="11059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60" strike="noStrike" u="none">
                <a:solidFill>
                  <a:srgbClr val="667085"/>
                </a:solidFill>
                <a:effectLst/>
                <a:uFillTx/>
                <a:latin typeface="Aptos"/>
              </a:rPr>
              <a:t>Average</a:t>
            </a:r>
            <a:endParaRPr b="0" lang="en-US" sz="6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6"/>
          <p:cNvSpPr/>
          <p:nvPr/>
        </p:nvSpPr>
        <p:spPr>
          <a:xfrm>
            <a:off x="612720" y="1554480"/>
            <a:ext cx="1105920" cy="10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520" strike="noStrike" u="none">
                <a:solidFill>
                  <a:srgbClr val="8a94a6"/>
                </a:solidFill>
                <a:effectLst/>
                <a:uFillTx/>
                <a:latin typeface="Aptos"/>
              </a:rPr>
              <a:t>N=10</a:t>
            </a:r>
            <a:endParaRPr b="0" lang="en-US" sz="5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Shape 7"/>
          <p:cNvSpPr/>
          <p:nvPr/>
        </p:nvSpPr>
        <p:spPr>
          <a:xfrm>
            <a:off x="1965960" y="960120"/>
            <a:ext cx="1325520" cy="71280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7ecf3"/>
            </a:solidFill>
            <a:round/>
          </a:ln>
          <a:effectLst>
            <a:outerShdw algn="bl" blurRad="19080" dir="2700000" dist="9673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8"/>
          <p:cNvSpPr/>
          <p:nvPr/>
        </p:nvSpPr>
        <p:spPr>
          <a:xfrm>
            <a:off x="2075760" y="1051560"/>
            <a:ext cx="11059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1b2838"/>
                </a:solidFill>
                <a:effectLst/>
                <a:uFillTx/>
                <a:latin typeface="Aptos"/>
              </a:rPr>
              <a:t>13:31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9"/>
          <p:cNvSpPr/>
          <p:nvPr/>
        </p:nvSpPr>
        <p:spPr>
          <a:xfrm>
            <a:off x="2075760" y="1398960"/>
            <a:ext cx="11059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60" strike="noStrike" u="none">
                <a:solidFill>
                  <a:srgbClr val="667085"/>
                </a:solidFill>
                <a:effectLst/>
                <a:uFillTx/>
                <a:latin typeface="Aptos"/>
              </a:rPr>
              <a:t>Median</a:t>
            </a:r>
            <a:endParaRPr b="0" lang="en-US" sz="6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Shape 10"/>
          <p:cNvSpPr/>
          <p:nvPr/>
        </p:nvSpPr>
        <p:spPr>
          <a:xfrm>
            <a:off x="3429000" y="960120"/>
            <a:ext cx="1325520" cy="71280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7ecf3"/>
            </a:solidFill>
            <a:round/>
          </a:ln>
          <a:effectLst>
            <a:outerShdw algn="bl" blurRad="19080" dir="2700000" dist="9673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11"/>
          <p:cNvSpPr/>
          <p:nvPr/>
        </p:nvSpPr>
        <p:spPr>
          <a:xfrm>
            <a:off x="3538800" y="1051560"/>
            <a:ext cx="11059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1b2838"/>
                </a:solidFill>
                <a:effectLst/>
                <a:uFillTx/>
                <a:latin typeface="Aptos"/>
              </a:rPr>
              <a:t>13:20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12"/>
          <p:cNvSpPr/>
          <p:nvPr/>
        </p:nvSpPr>
        <p:spPr>
          <a:xfrm>
            <a:off x="3538800" y="1398960"/>
            <a:ext cx="11059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60" strike="noStrike" u="none">
                <a:solidFill>
                  <a:srgbClr val="667085"/>
                </a:solidFill>
                <a:effectLst/>
                <a:uFillTx/>
                <a:latin typeface="Aptos"/>
              </a:rPr>
              <a:t>Fastest</a:t>
            </a:r>
            <a:endParaRPr b="0" lang="en-US" sz="6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Shape 13"/>
          <p:cNvSpPr/>
          <p:nvPr/>
        </p:nvSpPr>
        <p:spPr>
          <a:xfrm>
            <a:off x="4892040" y="960120"/>
            <a:ext cx="1325520" cy="71280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7ecf3"/>
            </a:solidFill>
            <a:round/>
          </a:ln>
          <a:effectLst>
            <a:outerShdw algn="bl" blurRad="19080" dir="2700000" dist="9673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14"/>
          <p:cNvSpPr/>
          <p:nvPr/>
        </p:nvSpPr>
        <p:spPr>
          <a:xfrm>
            <a:off x="5001840" y="1051560"/>
            <a:ext cx="11059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1b2838"/>
                </a:solidFill>
                <a:effectLst/>
                <a:uFillTx/>
                <a:latin typeface="Aptos"/>
              </a:rPr>
              <a:t>13:57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15"/>
          <p:cNvSpPr/>
          <p:nvPr/>
        </p:nvSpPr>
        <p:spPr>
          <a:xfrm>
            <a:off x="5001840" y="1398960"/>
            <a:ext cx="11059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60" strike="noStrike" u="none">
                <a:solidFill>
                  <a:srgbClr val="667085"/>
                </a:solidFill>
                <a:effectLst/>
                <a:uFillTx/>
                <a:latin typeface="Aptos"/>
              </a:rPr>
              <a:t>Slowest</a:t>
            </a:r>
            <a:endParaRPr b="0" lang="en-US" sz="6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Shape 16"/>
          <p:cNvSpPr/>
          <p:nvPr/>
        </p:nvSpPr>
        <p:spPr>
          <a:xfrm>
            <a:off x="6629400" y="1005840"/>
            <a:ext cx="2102760" cy="712800"/>
          </a:xfrm>
          <a:prstGeom prst="roundRect">
            <a:avLst>
              <a:gd name="adj" fmla="val 10256"/>
            </a:avLst>
          </a:prstGeom>
          <a:solidFill>
            <a:srgbClr val="fff5dc"/>
          </a:solidFill>
          <a:ln w="12700">
            <a:solidFill>
              <a:srgbClr val="fde6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17"/>
          <p:cNvSpPr/>
          <p:nvPr/>
        </p:nvSpPr>
        <p:spPr>
          <a:xfrm>
            <a:off x="6793920" y="1134000"/>
            <a:ext cx="173700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80" strike="noStrike" u="none">
                <a:solidFill>
                  <a:srgbClr val="92400e"/>
                </a:solidFill>
                <a:effectLst/>
                <a:uFillTx/>
                <a:latin typeface="Aptos"/>
              </a:rPr>
              <a:t>Important</a:t>
            </a:r>
            <a:endParaRPr b="0" lang="en-US" sz="6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18"/>
          <p:cNvSpPr/>
          <p:nvPr/>
        </p:nvSpPr>
        <p:spPr>
          <a:xfrm>
            <a:off x="6784920" y="1353240"/>
            <a:ext cx="17827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20" strike="noStrike" u="none">
                <a:solidFill>
                  <a:srgbClr val="92400e"/>
                </a:solidFill>
                <a:effectLst/>
                <a:uFillTx/>
                <a:latin typeface="Aptos"/>
              </a:rPr>
              <a:t>steps overlap — do not sum</a:t>
            </a:r>
            <a:endParaRPr b="0" lang="en-US" sz="6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19"/>
          <p:cNvSpPr/>
          <p:nvPr/>
        </p:nvSpPr>
        <p:spPr>
          <a:xfrm>
            <a:off x="804600" y="5623560"/>
            <a:ext cx="9601200" cy="360"/>
          </a:xfrm>
          <a:prstGeom prst="line">
            <a:avLst/>
          </a:prstGeom>
          <a:ln w="6350">
            <a:solidFill>
              <a:srgbClr val="e6ea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20"/>
          <p:cNvSpPr/>
          <p:nvPr/>
        </p:nvSpPr>
        <p:spPr>
          <a:xfrm>
            <a:off x="438840" y="5577840"/>
            <a:ext cx="319680" cy="10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540" strike="noStrike" u="none">
                <a:solidFill>
                  <a:srgbClr val="98a2b3"/>
                </a:solidFill>
                <a:effectLst/>
                <a:uFillTx/>
                <a:latin typeface="Aptos"/>
              </a:rPr>
              <a:t>0</a:t>
            </a:r>
            <a:endParaRPr b="0" lang="en-US" sz="5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Shape 21"/>
          <p:cNvSpPr/>
          <p:nvPr/>
        </p:nvSpPr>
        <p:spPr>
          <a:xfrm>
            <a:off x="804600" y="4787280"/>
            <a:ext cx="9601200" cy="360"/>
          </a:xfrm>
          <a:prstGeom prst="line">
            <a:avLst/>
          </a:prstGeom>
          <a:ln w="6350">
            <a:solidFill>
              <a:srgbClr val="e6ea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22"/>
          <p:cNvSpPr/>
          <p:nvPr/>
        </p:nvSpPr>
        <p:spPr>
          <a:xfrm>
            <a:off x="438840" y="4741920"/>
            <a:ext cx="319680" cy="10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540" strike="noStrike" u="none">
                <a:solidFill>
                  <a:srgbClr val="98a2b3"/>
                </a:solidFill>
                <a:effectLst/>
                <a:uFillTx/>
                <a:latin typeface="Aptos"/>
              </a:rPr>
              <a:t>200</a:t>
            </a:r>
            <a:endParaRPr b="0" lang="en-US" sz="5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Shape 23"/>
          <p:cNvSpPr/>
          <p:nvPr/>
        </p:nvSpPr>
        <p:spPr>
          <a:xfrm>
            <a:off x="804600" y="3951360"/>
            <a:ext cx="9601200" cy="360"/>
          </a:xfrm>
          <a:prstGeom prst="line">
            <a:avLst/>
          </a:prstGeom>
          <a:ln w="6350">
            <a:solidFill>
              <a:srgbClr val="e6ea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24"/>
          <p:cNvSpPr/>
          <p:nvPr/>
        </p:nvSpPr>
        <p:spPr>
          <a:xfrm>
            <a:off x="438840" y="3905640"/>
            <a:ext cx="319680" cy="10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540" strike="noStrike" u="none">
                <a:solidFill>
                  <a:srgbClr val="98a2b3"/>
                </a:solidFill>
                <a:effectLst/>
                <a:uFillTx/>
                <a:latin typeface="Aptos"/>
              </a:rPr>
              <a:t>400</a:t>
            </a:r>
            <a:endParaRPr b="0" lang="en-US" sz="5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Shape 25"/>
          <p:cNvSpPr/>
          <p:nvPr/>
        </p:nvSpPr>
        <p:spPr>
          <a:xfrm>
            <a:off x="804600" y="3115440"/>
            <a:ext cx="9601200" cy="360"/>
          </a:xfrm>
          <a:prstGeom prst="line">
            <a:avLst/>
          </a:prstGeom>
          <a:ln w="6350">
            <a:solidFill>
              <a:srgbClr val="e6ea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26"/>
          <p:cNvSpPr/>
          <p:nvPr/>
        </p:nvSpPr>
        <p:spPr>
          <a:xfrm>
            <a:off x="438840" y="3069720"/>
            <a:ext cx="319680" cy="10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540" strike="noStrike" u="none">
                <a:solidFill>
                  <a:srgbClr val="98a2b3"/>
                </a:solidFill>
                <a:effectLst/>
                <a:uFillTx/>
                <a:latin typeface="Aptos"/>
              </a:rPr>
              <a:t>600</a:t>
            </a:r>
            <a:endParaRPr b="0" lang="en-US" sz="5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Shape 27"/>
          <p:cNvSpPr/>
          <p:nvPr/>
        </p:nvSpPr>
        <p:spPr>
          <a:xfrm>
            <a:off x="914400" y="2860560"/>
            <a:ext cx="959760" cy="2762640"/>
          </a:xfrm>
          <a:prstGeom prst="rect">
            <a:avLst/>
          </a:prstGeom>
          <a:solidFill>
            <a:srgbClr val="2f6eeb"/>
          </a:solidFill>
          <a:ln w="12700">
            <a:solidFill>
              <a:srgbClr val="2f6e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28"/>
          <p:cNvSpPr/>
          <p:nvPr/>
        </p:nvSpPr>
        <p:spPr>
          <a:xfrm>
            <a:off x="914400" y="2696040"/>
            <a:ext cx="959760" cy="10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20" strike="noStrike" u="none">
                <a:solidFill>
                  <a:srgbClr val="1b2838"/>
                </a:solidFill>
                <a:effectLst/>
                <a:uFillTx/>
                <a:latin typeface="Aptos"/>
              </a:rPr>
              <a:t>11:01</a:t>
            </a:r>
            <a:endParaRPr b="0" lang="en-US" sz="6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29"/>
          <p:cNvSpPr/>
          <p:nvPr/>
        </p:nvSpPr>
        <p:spPr>
          <a:xfrm>
            <a:off x="777240" y="5760720"/>
            <a:ext cx="12340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580" strike="noStrike" u="none">
                <a:solidFill>
                  <a:srgbClr val="667085"/>
                </a:solidFill>
                <a:effectLst/>
                <a:uFillTx/>
                <a:latin typeface="Aptos"/>
              </a:rPr>
              <a:t>Command Adaptor</a:t>
            </a:r>
            <a:endParaRPr b="0" lang="en-US" sz="5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Shape 30"/>
          <p:cNvSpPr/>
          <p:nvPr/>
        </p:nvSpPr>
        <p:spPr>
          <a:xfrm>
            <a:off x="2194560" y="3186720"/>
            <a:ext cx="959760" cy="2436480"/>
          </a:xfrm>
          <a:prstGeom prst="rect">
            <a:avLst/>
          </a:prstGeom>
          <a:solidFill>
            <a:srgbClr val="2f6eeb"/>
          </a:solidFill>
          <a:ln w="12700">
            <a:solidFill>
              <a:srgbClr val="2f6e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31"/>
          <p:cNvSpPr/>
          <p:nvPr/>
        </p:nvSpPr>
        <p:spPr>
          <a:xfrm>
            <a:off x="2194560" y="3021840"/>
            <a:ext cx="959760" cy="10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20" strike="noStrike" u="none">
                <a:solidFill>
                  <a:srgbClr val="1b2838"/>
                </a:solidFill>
                <a:effectLst/>
                <a:uFillTx/>
                <a:latin typeface="Aptos"/>
              </a:rPr>
              <a:t>9:43</a:t>
            </a:r>
            <a:endParaRPr b="0" lang="en-US" sz="6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32"/>
          <p:cNvSpPr/>
          <p:nvPr/>
        </p:nvSpPr>
        <p:spPr>
          <a:xfrm>
            <a:off x="2057400" y="5760720"/>
            <a:ext cx="12340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580" strike="noStrike" u="none">
                <a:solidFill>
                  <a:srgbClr val="667085"/>
                </a:solidFill>
                <a:effectLst/>
                <a:uFillTx/>
                <a:latin typeface="Aptos"/>
              </a:rPr>
              <a:t>Integration Tests</a:t>
            </a:r>
            <a:endParaRPr b="0" lang="en-US" sz="5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Shape 33"/>
          <p:cNvSpPr/>
          <p:nvPr/>
        </p:nvSpPr>
        <p:spPr>
          <a:xfrm>
            <a:off x="3474720" y="5046840"/>
            <a:ext cx="959760" cy="576360"/>
          </a:xfrm>
          <a:prstGeom prst="rect">
            <a:avLst/>
          </a:prstGeom>
          <a:solidFill>
            <a:srgbClr val="2f6eeb"/>
          </a:solidFill>
          <a:ln w="12700">
            <a:solidFill>
              <a:srgbClr val="2f6e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34"/>
          <p:cNvSpPr/>
          <p:nvPr/>
        </p:nvSpPr>
        <p:spPr>
          <a:xfrm>
            <a:off x="3474720" y="4881960"/>
            <a:ext cx="959760" cy="10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20" strike="noStrike" u="none">
                <a:solidFill>
                  <a:srgbClr val="1b2838"/>
                </a:solidFill>
                <a:effectLst/>
                <a:uFillTx/>
                <a:latin typeface="Aptos"/>
              </a:rPr>
              <a:t>2:18</a:t>
            </a:r>
            <a:endParaRPr b="0" lang="en-US" sz="6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35"/>
          <p:cNvSpPr/>
          <p:nvPr/>
        </p:nvSpPr>
        <p:spPr>
          <a:xfrm>
            <a:off x="3337560" y="5760720"/>
            <a:ext cx="12340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580" strike="noStrike" u="none">
                <a:solidFill>
                  <a:srgbClr val="667085"/>
                </a:solidFill>
                <a:effectLst/>
                <a:uFillTx/>
                <a:latin typeface="Aptos"/>
              </a:rPr>
              <a:t>Kafka &amp; Redis</a:t>
            </a:r>
            <a:endParaRPr b="0" lang="en-US" sz="5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Shape 36"/>
          <p:cNvSpPr/>
          <p:nvPr/>
        </p:nvSpPr>
        <p:spPr>
          <a:xfrm>
            <a:off x="4754880" y="5272560"/>
            <a:ext cx="959760" cy="350640"/>
          </a:xfrm>
          <a:prstGeom prst="rect">
            <a:avLst/>
          </a:prstGeom>
          <a:solidFill>
            <a:srgbClr val="2f6eeb"/>
          </a:solidFill>
          <a:ln w="12700">
            <a:solidFill>
              <a:srgbClr val="2f6e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37"/>
          <p:cNvSpPr/>
          <p:nvPr/>
        </p:nvSpPr>
        <p:spPr>
          <a:xfrm>
            <a:off x="4754880" y="5107680"/>
            <a:ext cx="959760" cy="10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20" strike="noStrike" u="none">
                <a:solidFill>
                  <a:srgbClr val="1b2838"/>
                </a:solidFill>
                <a:effectLst/>
                <a:uFillTx/>
                <a:latin typeface="Aptos"/>
              </a:rPr>
              <a:t>1:24</a:t>
            </a:r>
            <a:endParaRPr b="0" lang="en-US" sz="6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38"/>
          <p:cNvSpPr/>
          <p:nvPr/>
        </p:nvSpPr>
        <p:spPr>
          <a:xfrm>
            <a:off x="4617720" y="5760720"/>
            <a:ext cx="12340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580" strike="noStrike" u="none">
                <a:solidFill>
                  <a:srgbClr val="667085"/>
                </a:solidFill>
                <a:effectLst/>
                <a:uFillTx/>
                <a:latin typeface="Aptos"/>
              </a:rPr>
              <a:t>Maven Build</a:t>
            </a:r>
            <a:endParaRPr b="0" lang="en-US" sz="5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Shape 39"/>
          <p:cNvSpPr/>
          <p:nvPr/>
        </p:nvSpPr>
        <p:spPr>
          <a:xfrm>
            <a:off x="6035040" y="5439600"/>
            <a:ext cx="959760" cy="183600"/>
          </a:xfrm>
          <a:prstGeom prst="rect">
            <a:avLst/>
          </a:prstGeom>
          <a:solidFill>
            <a:srgbClr val="2f6eeb"/>
          </a:solidFill>
          <a:ln w="12700">
            <a:solidFill>
              <a:srgbClr val="2f6e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40"/>
          <p:cNvSpPr/>
          <p:nvPr/>
        </p:nvSpPr>
        <p:spPr>
          <a:xfrm>
            <a:off x="6035040" y="5275080"/>
            <a:ext cx="959760" cy="10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20" strike="noStrike" u="none">
                <a:solidFill>
                  <a:srgbClr val="1b2838"/>
                </a:solidFill>
                <a:effectLst/>
                <a:uFillTx/>
                <a:latin typeface="Aptos"/>
              </a:rPr>
              <a:t>0:44</a:t>
            </a:r>
            <a:endParaRPr b="0" lang="en-US" sz="6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41"/>
          <p:cNvSpPr/>
          <p:nvPr/>
        </p:nvSpPr>
        <p:spPr>
          <a:xfrm>
            <a:off x="5897880" y="5760720"/>
            <a:ext cx="12340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580" strike="noStrike" u="none">
                <a:solidFill>
                  <a:srgbClr val="667085"/>
                </a:solidFill>
                <a:effectLst/>
                <a:uFillTx/>
                <a:latin typeface="Aptos"/>
              </a:rPr>
              <a:t>Trivy</a:t>
            </a:r>
            <a:endParaRPr b="0" lang="en-US" sz="5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42"/>
          <p:cNvSpPr/>
          <p:nvPr/>
        </p:nvSpPr>
        <p:spPr>
          <a:xfrm>
            <a:off x="7315200" y="5502240"/>
            <a:ext cx="959760" cy="120960"/>
          </a:xfrm>
          <a:prstGeom prst="rect">
            <a:avLst/>
          </a:prstGeom>
          <a:solidFill>
            <a:srgbClr val="2f6eeb"/>
          </a:solidFill>
          <a:ln w="12700">
            <a:solidFill>
              <a:srgbClr val="2f6e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43"/>
          <p:cNvSpPr/>
          <p:nvPr/>
        </p:nvSpPr>
        <p:spPr>
          <a:xfrm>
            <a:off x="7315200" y="5337720"/>
            <a:ext cx="959760" cy="10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20" strike="noStrike" u="none">
                <a:solidFill>
                  <a:srgbClr val="1b2838"/>
                </a:solidFill>
                <a:effectLst/>
                <a:uFillTx/>
                <a:latin typeface="Aptos"/>
              </a:rPr>
              <a:t>0:29</a:t>
            </a:r>
            <a:endParaRPr b="0" lang="en-US" sz="6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44"/>
          <p:cNvSpPr/>
          <p:nvPr/>
        </p:nvSpPr>
        <p:spPr>
          <a:xfrm>
            <a:off x="7178040" y="5760720"/>
            <a:ext cx="12340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580" strike="noStrike" u="none">
                <a:solidFill>
                  <a:srgbClr val="667085"/>
                </a:solidFill>
                <a:effectLst/>
                <a:uFillTx/>
                <a:latin typeface="Aptos"/>
              </a:rPr>
              <a:t>Aggregators</a:t>
            </a:r>
            <a:endParaRPr b="0" lang="en-US" sz="5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Shape 45"/>
          <p:cNvSpPr/>
          <p:nvPr/>
        </p:nvSpPr>
        <p:spPr>
          <a:xfrm>
            <a:off x="8595360" y="5598360"/>
            <a:ext cx="959760" cy="24840"/>
          </a:xfrm>
          <a:prstGeom prst="rect">
            <a:avLst/>
          </a:prstGeom>
          <a:solidFill>
            <a:srgbClr val="2f6eeb"/>
          </a:solidFill>
          <a:ln w="12700">
            <a:solidFill>
              <a:srgbClr val="2f6e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19800" bIns="-198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46"/>
          <p:cNvSpPr/>
          <p:nvPr/>
        </p:nvSpPr>
        <p:spPr>
          <a:xfrm>
            <a:off x="8595360" y="5433840"/>
            <a:ext cx="959760" cy="10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20" strike="noStrike" u="none">
                <a:solidFill>
                  <a:srgbClr val="1b2838"/>
                </a:solidFill>
                <a:effectLst/>
                <a:uFillTx/>
                <a:latin typeface="Aptos"/>
              </a:rPr>
              <a:t>0:06</a:t>
            </a:r>
            <a:endParaRPr b="0" lang="en-US" sz="6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47"/>
          <p:cNvSpPr/>
          <p:nvPr/>
        </p:nvSpPr>
        <p:spPr>
          <a:xfrm>
            <a:off x="8458200" y="5760720"/>
            <a:ext cx="12340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580" strike="noStrike" u="none">
                <a:solidFill>
                  <a:srgbClr val="667085"/>
                </a:solidFill>
                <a:effectLst/>
                <a:uFillTx/>
                <a:latin typeface="Aptos"/>
              </a:rPr>
              <a:t>Pre-Integration</a:t>
            </a:r>
            <a:endParaRPr b="0" lang="en-US" sz="5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48"/>
          <p:cNvSpPr/>
          <p:nvPr/>
        </p:nvSpPr>
        <p:spPr>
          <a:xfrm>
            <a:off x="822960" y="2030040"/>
            <a:ext cx="50288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00" strike="noStrike" u="none">
                <a:solidFill>
                  <a:srgbClr val="667085"/>
                </a:solidFill>
                <a:effectLst/>
                <a:uFillTx/>
                <a:latin typeface="Aptos"/>
              </a:rPr>
              <a:t>Visible baseline step averages (seconds)</a:t>
            </a:r>
            <a:endParaRPr b="0" lang="en-US" sz="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49"/>
          <p:cNvSpPr/>
          <p:nvPr/>
        </p:nvSpPr>
        <p:spPr>
          <a:xfrm>
            <a:off x="411480" y="6546960"/>
            <a:ext cx="53031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580" strike="noStrike" u="none">
                <a:solidFill>
                  <a:srgbClr val="a0aec0"/>
                </a:solidFill>
                <a:effectLst/>
                <a:uFillTx/>
                <a:latin typeface="Aptos"/>
              </a:rPr>
              <a:t>FDP Command Adaptor SNS — CI/CD Optimisation</a:t>
            </a:r>
            <a:endParaRPr b="0" lang="en-US" sz="5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50"/>
          <p:cNvSpPr/>
          <p:nvPr/>
        </p:nvSpPr>
        <p:spPr>
          <a:xfrm>
            <a:off x="11658600" y="6528960"/>
            <a:ext cx="2008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580" strike="noStrike" u="none">
                <a:solidFill>
                  <a:srgbClr val="a0aec0"/>
                </a:solidFill>
                <a:effectLst/>
                <a:uFillTx/>
                <a:latin typeface="Aptos"/>
              </a:rPr>
              <a:t>3</a:t>
            </a:r>
            <a:endParaRPr b="0" lang="en-US" sz="5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Shape 0"/>
          <p:cNvSpPr/>
          <p:nvPr/>
        </p:nvSpPr>
        <p:spPr>
          <a:xfrm>
            <a:off x="0" y="0"/>
            <a:ext cx="12191400" cy="5436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1"/>
          <p:cNvSpPr/>
          <p:nvPr/>
        </p:nvSpPr>
        <p:spPr>
          <a:xfrm>
            <a:off x="411480" y="320040"/>
            <a:ext cx="98751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1b2838"/>
                </a:solidFill>
                <a:effectLst/>
                <a:uFillTx/>
                <a:latin typeface="Aptos"/>
              </a:rPr>
              <a:t>Before: distributed lifecycle ownership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2"/>
          <p:cNvSpPr/>
          <p:nvPr/>
        </p:nvSpPr>
        <p:spPr>
          <a:xfrm>
            <a:off x="411480" y="713160"/>
            <a:ext cx="9600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67085"/>
                </a:solidFill>
                <a:effectLst/>
                <a:uFillTx/>
                <a:latin typeface="Aptos"/>
              </a:rPr>
              <a:t>Conceptual execution model: orchestration, app startup and tests were split across multiple stages.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Shape 3"/>
          <p:cNvSpPr/>
          <p:nvPr/>
        </p:nvSpPr>
        <p:spPr>
          <a:xfrm>
            <a:off x="640080" y="1234440"/>
            <a:ext cx="1737000" cy="43848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240">
            <a:solidFill>
              <a:srgbClr val="0a2c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4"/>
          <p:cNvSpPr/>
          <p:nvPr/>
        </p:nvSpPr>
        <p:spPr>
          <a:xfrm>
            <a:off x="694800" y="1344240"/>
            <a:ext cx="16272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20" strike="noStrike" u="none">
                <a:solidFill>
                  <a:srgbClr val="1b2838"/>
                </a:solidFill>
                <a:effectLst/>
                <a:uFillTx/>
                <a:latin typeface="Aptos"/>
              </a:rPr>
              <a:t>Secrets / Docker readiness</a:t>
            </a:r>
            <a:endParaRPr b="0" lang="en-US" sz="6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Shape 5"/>
          <p:cNvSpPr/>
          <p:nvPr/>
        </p:nvSpPr>
        <p:spPr>
          <a:xfrm>
            <a:off x="2834640" y="960120"/>
            <a:ext cx="1279800" cy="43848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240">
            <a:solidFill>
              <a:srgbClr val="2f6e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6"/>
          <p:cNvSpPr/>
          <p:nvPr/>
        </p:nvSpPr>
        <p:spPr>
          <a:xfrm>
            <a:off x="2889360" y="1069920"/>
            <a:ext cx="11700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20" strike="noStrike" u="none">
                <a:solidFill>
                  <a:srgbClr val="1b2838"/>
                </a:solidFill>
                <a:effectLst/>
                <a:uFillTx/>
                <a:latin typeface="Aptos"/>
              </a:rPr>
              <a:t>Kafka &amp; Redis</a:t>
            </a:r>
            <a:endParaRPr b="0" lang="en-US" sz="6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7"/>
          <p:cNvSpPr/>
          <p:nvPr/>
        </p:nvSpPr>
        <p:spPr>
          <a:xfrm>
            <a:off x="4754880" y="960120"/>
            <a:ext cx="1371240" cy="43848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240">
            <a:solidFill>
              <a:srgbClr val="f4a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8"/>
          <p:cNvSpPr/>
          <p:nvPr/>
        </p:nvSpPr>
        <p:spPr>
          <a:xfrm>
            <a:off x="4809600" y="1069920"/>
            <a:ext cx="1261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20" strike="noStrike" u="none">
                <a:solidFill>
                  <a:srgbClr val="1b2838"/>
                </a:solidFill>
                <a:effectLst/>
                <a:uFillTx/>
                <a:latin typeface="Aptos"/>
              </a:rPr>
              <a:t>Maven build</a:t>
            </a:r>
            <a:endParaRPr b="0" lang="en-US" sz="6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Shape 9"/>
          <p:cNvSpPr/>
          <p:nvPr/>
        </p:nvSpPr>
        <p:spPr>
          <a:xfrm>
            <a:off x="6675120" y="960120"/>
            <a:ext cx="1645560" cy="43848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240">
            <a:solidFill>
              <a:srgbClr val="7b61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10"/>
          <p:cNvSpPr/>
          <p:nvPr/>
        </p:nvSpPr>
        <p:spPr>
          <a:xfrm>
            <a:off x="6729840" y="1069920"/>
            <a:ext cx="15357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20" strike="noStrike" u="none">
                <a:solidFill>
                  <a:srgbClr val="1b2838"/>
                </a:solidFill>
                <a:effectLst/>
                <a:uFillTx/>
                <a:latin typeface="Aptos"/>
              </a:rPr>
              <a:t>Command adaptor container</a:t>
            </a:r>
            <a:endParaRPr b="0" lang="en-US" sz="6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Shape 11"/>
          <p:cNvSpPr/>
          <p:nvPr/>
        </p:nvSpPr>
        <p:spPr>
          <a:xfrm>
            <a:off x="8961120" y="960120"/>
            <a:ext cx="1279800" cy="43848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240">
            <a:solidFill>
              <a:srgbClr val="e955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12"/>
          <p:cNvSpPr/>
          <p:nvPr/>
        </p:nvSpPr>
        <p:spPr>
          <a:xfrm>
            <a:off x="9015840" y="1069920"/>
            <a:ext cx="11700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20" strike="noStrike" u="none">
                <a:solidFill>
                  <a:srgbClr val="1b2838"/>
                </a:solidFill>
                <a:effectLst/>
                <a:uFillTx/>
                <a:latin typeface="Aptos"/>
              </a:rPr>
              <a:t>Pre-integration</a:t>
            </a:r>
            <a:endParaRPr b="0" lang="en-US" sz="6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Shape 13"/>
          <p:cNvSpPr/>
          <p:nvPr/>
        </p:nvSpPr>
        <p:spPr>
          <a:xfrm>
            <a:off x="9692640" y="1828800"/>
            <a:ext cx="1371240" cy="43848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240">
            <a:solidFill>
              <a:srgbClr val="e955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14"/>
          <p:cNvSpPr/>
          <p:nvPr/>
        </p:nvSpPr>
        <p:spPr>
          <a:xfrm>
            <a:off x="9747360" y="1938600"/>
            <a:ext cx="1261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20" strike="noStrike" u="none">
                <a:solidFill>
                  <a:srgbClr val="1b2838"/>
                </a:solidFill>
                <a:effectLst/>
                <a:uFillTx/>
                <a:latin typeface="Aptos"/>
              </a:rPr>
              <a:t>Integration tests</a:t>
            </a:r>
            <a:endParaRPr b="0" lang="en-US" sz="6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Shape 15"/>
          <p:cNvSpPr/>
          <p:nvPr/>
        </p:nvSpPr>
        <p:spPr>
          <a:xfrm>
            <a:off x="11201400" y="1828800"/>
            <a:ext cx="548280" cy="43848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240">
            <a:solidFill>
              <a:srgbClr val="66708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16"/>
          <p:cNvSpPr/>
          <p:nvPr/>
        </p:nvSpPr>
        <p:spPr>
          <a:xfrm>
            <a:off x="11256120" y="1938600"/>
            <a:ext cx="4384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20" strike="noStrike" u="none">
                <a:solidFill>
                  <a:srgbClr val="1b2838"/>
                </a:solidFill>
                <a:effectLst/>
                <a:uFillTx/>
                <a:latin typeface="Aptos"/>
              </a:rPr>
              <a:t>Trivy</a:t>
            </a:r>
            <a:endParaRPr b="0" lang="en-US" sz="6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Shape 17"/>
          <p:cNvSpPr/>
          <p:nvPr/>
        </p:nvSpPr>
        <p:spPr>
          <a:xfrm>
            <a:off x="3657600" y="1828800"/>
            <a:ext cx="1371240" cy="43848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240">
            <a:solidFill>
              <a:srgbClr val="00a6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18"/>
          <p:cNvSpPr/>
          <p:nvPr/>
        </p:nvSpPr>
        <p:spPr>
          <a:xfrm>
            <a:off x="3712320" y="1938600"/>
            <a:ext cx="1261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20" strike="noStrike" u="none">
                <a:solidFill>
                  <a:srgbClr val="1b2838"/>
                </a:solidFill>
                <a:effectLst/>
                <a:uFillTx/>
                <a:latin typeface="Aptos"/>
              </a:rPr>
              <a:t>Aggregators</a:t>
            </a:r>
            <a:endParaRPr b="0" lang="en-US" sz="6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Shape 19"/>
          <p:cNvSpPr/>
          <p:nvPr/>
        </p:nvSpPr>
        <p:spPr>
          <a:xfrm flipV="1">
            <a:off x="2377440" y="1170360"/>
            <a:ext cx="457200" cy="274320"/>
          </a:xfrm>
          <a:prstGeom prst="line">
            <a:avLst/>
          </a:prstGeom>
          <a:ln w="13970">
            <a:solidFill>
              <a:srgbClr val="667085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Shape 20"/>
          <p:cNvSpPr/>
          <p:nvPr/>
        </p:nvSpPr>
        <p:spPr>
          <a:xfrm>
            <a:off x="4114800" y="1170360"/>
            <a:ext cx="640080" cy="360"/>
          </a:xfrm>
          <a:prstGeom prst="line">
            <a:avLst/>
          </a:prstGeom>
          <a:ln w="13970">
            <a:solidFill>
              <a:srgbClr val="667085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Shape 21"/>
          <p:cNvSpPr/>
          <p:nvPr/>
        </p:nvSpPr>
        <p:spPr>
          <a:xfrm>
            <a:off x="6126480" y="1170360"/>
            <a:ext cx="548640" cy="360"/>
          </a:xfrm>
          <a:prstGeom prst="line">
            <a:avLst/>
          </a:prstGeom>
          <a:ln w="13970">
            <a:solidFill>
              <a:srgbClr val="667085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Shape 22"/>
          <p:cNvSpPr/>
          <p:nvPr/>
        </p:nvSpPr>
        <p:spPr>
          <a:xfrm>
            <a:off x="8321040" y="1170360"/>
            <a:ext cx="640080" cy="360"/>
          </a:xfrm>
          <a:prstGeom prst="line">
            <a:avLst/>
          </a:prstGeom>
          <a:ln w="13970">
            <a:solidFill>
              <a:srgbClr val="667085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Shape 23"/>
          <p:cNvSpPr/>
          <p:nvPr/>
        </p:nvSpPr>
        <p:spPr>
          <a:xfrm>
            <a:off x="9601200" y="1398960"/>
            <a:ext cx="365760" cy="429840"/>
          </a:xfrm>
          <a:prstGeom prst="line">
            <a:avLst/>
          </a:prstGeom>
          <a:ln w="13970">
            <a:solidFill>
              <a:srgbClr val="667085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Shape 24"/>
          <p:cNvSpPr/>
          <p:nvPr/>
        </p:nvSpPr>
        <p:spPr>
          <a:xfrm>
            <a:off x="11064240" y="2048040"/>
            <a:ext cx="137160" cy="360"/>
          </a:xfrm>
          <a:prstGeom prst="line">
            <a:avLst/>
          </a:prstGeom>
          <a:ln w="13970">
            <a:solidFill>
              <a:srgbClr val="667085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Shape 25"/>
          <p:cNvSpPr/>
          <p:nvPr/>
        </p:nvSpPr>
        <p:spPr>
          <a:xfrm>
            <a:off x="2377440" y="1444680"/>
            <a:ext cx="1280160" cy="384120"/>
          </a:xfrm>
          <a:prstGeom prst="line">
            <a:avLst/>
          </a:prstGeom>
          <a:ln w="13970">
            <a:solidFill>
              <a:srgbClr val="667085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Shape 26"/>
          <p:cNvSpPr/>
          <p:nvPr/>
        </p:nvSpPr>
        <p:spPr>
          <a:xfrm>
            <a:off x="868680" y="3931920"/>
            <a:ext cx="2925720" cy="95976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7ecf3"/>
            </a:solidFill>
            <a:round/>
          </a:ln>
          <a:effectLst>
            <a:outerShdw algn="bl" blurRad="19080" dir="2700000" dist="9673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27"/>
          <p:cNvSpPr/>
          <p:nvPr/>
        </p:nvSpPr>
        <p:spPr>
          <a:xfrm>
            <a:off x="1051560" y="4160520"/>
            <a:ext cx="25599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20" strike="noStrike" u="none">
                <a:solidFill>
                  <a:srgbClr val="1b2838"/>
                </a:solidFill>
                <a:effectLst/>
                <a:uFillTx/>
                <a:latin typeface="Aptos"/>
              </a:rPr>
              <a:t>Orchestration overhead</a:t>
            </a:r>
            <a:endParaRPr b="0" lang="en-US" sz="8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28"/>
          <p:cNvSpPr/>
          <p:nvPr/>
        </p:nvSpPr>
        <p:spPr>
          <a:xfrm>
            <a:off x="1051560" y="4434840"/>
            <a:ext cx="2559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80" strike="noStrike" u="none">
                <a:solidFill>
                  <a:srgbClr val="667085"/>
                </a:solidFill>
                <a:effectLst/>
                <a:uFillTx/>
                <a:latin typeface="Aptos"/>
              </a:rPr>
              <a:t>Infrastructure and app containers were prepared across CI and Compose.</a:t>
            </a:r>
            <a:endParaRPr b="0" lang="en-US" sz="6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Shape 29"/>
          <p:cNvSpPr/>
          <p:nvPr/>
        </p:nvSpPr>
        <p:spPr>
          <a:xfrm>
            <a:off x="4297680" y="3931920"/>
            <a:ext cx="2925720" cy="95976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7ecf3"/>
            </a:solidFill>
            <a:round/>
          </a:ln>
          <a:effectLst>
            <a:outerShdw algn="bl" blurRad="19080" dir="2700000" dist="9673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30"/>
          <p:cNvSpPr/>
          <p:nvPr/>
        </p:nvSpPr>
        <p:spPr>
          <a:xfrm>
            <a:off x="4480560" y="4160520"/>
            <a:ext cx="25599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20" strike="noStrike" u="none">
                <a:solidFill>
                  <a:srgbClr val="1b2838"/>
                </a:solidFill>
                <a:effectLst/>
                <a:uFillTx/>
                <a:latin typeface="Aptos"/>
              </a:rPr>
              <a:t>Indirect failure evidence</a:t>
            </a:r>
            <a:endParaRPr b="0" lang="en-US" sz="8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31"/>
          <p:cNvSpPr/>
          <p:nvPr/>
        </p:nvSpPr>
        <p:spPr>
          <a:xfrm>
            <a:off x="4480560" y="4434840"/>
            <a:ext cx="2559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80" strike="noStrike" u="none">
                <a:solidFill>
                  <a:srgbClr val="667085"/>
                </a:solidFill>
                <a:effectLst/>
                <a:uFillTx/>
                <a:latin typeface="Aptos"/>
              </a:rPr>
              <a:t>Failures were distributed between services, readiness checks and tests.</a:t>
            </a:r>
            <a:endParaRPr b="0" lang="en-US" sz="6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Shape 32"/>
          <p:cNvSpPr/>
          <p:nvPr/>
        </p:nvSpPr>
        <p:spPr>
          <a:xfrm>
            <a:off x="7726680" y="3931920"/>
            <a:ext cx="2925720" cy="95976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7ecf3"/>
            </a:solidFill>
            <a:round/>
          </a:ln>
          <a:effectLst>
            <a:outerShdw algn="bl" blurRad="19080" dir="2700000" dist="9673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33"/>
          <p:cNvSpPr/>
          <p:nvPr/>
        </p:nvSpPr>
        <p:spPr>
          <a:xfrm>
            <a:off x="7909560" y="4160520"/>
            <a:ext cx="25599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20" strike="noStrike" u="none">
                <a:solidFill>
                  <a:srgbClr val="1b2838"/>
                </a:solidFill>
                <a:effectLst/>
                <a:uFillTx/>
                <a:latin typeface="Aptos"/>
              </a:rPr>
              <a:t>Critical-path drag</a:t>
            </a:r>
            <a:endParaRPr b="0" lang="en-US" sz="8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34"/>
          <p:cNvSpPr/>
          <p:nvPr/>
        </p:nvSpPr>
        <p:spPr>
          <a:xfrm>
            <a:off x="7909560" y="4434840"/>
            <a:ext cx="2559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80" strike="noStrike" u="none">
                <a:solidFill>
                  <a:srgbClr val="667085"/>
                </a:solidFill>
                <a:effectLst/>
                <a:uFillTx/>
                <a:latin typeface="Aptos"/>
              </a:rPr>
              <a:t>Trivy DB preparation happened inside the final scan path.</a:t>
            </a:r>
            <a:endParaRPr b="0" lang="en-US" sz="6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35"/>
          <p:cNvSpPr/>
          <p:nvPr/>
        </p:nvSpPr>
        <p:spPr>
          <a:xfrm>
            <a:off x="411480" y="6546960"/>
            <a:ext cx="53031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580" strike="noStrike" u="none">
                <a:solidFill>
                  <a:srgbClr val="a0aec0"/>
                </a:solidFill>
                <a:effectLst/>
                <a:uFillTx/>
                <a:latin typeface="Aptos"/>
              </a:rPr>
              <a:t>FDP Command Adaptor SNS — CI/CD Optimisation</a:t>
            </a:r>
            <a:endParaRPr b="0" lang="en-US" sz="5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36"/>
          <p:cNvSpPr/>
          <p:nvPr/>
        </p:nvSpPr>
        <p:spPr>
          <a:xfrm>
            <a:off x="11658600" y="6528960"/>
            <a:ext cx="2008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580" strike="noStrike" u="none">
                <a:solidFill>
                  <a:srgbClr val="a0aec0"/>
                </a:solidFill>
                <a:effectLst/>
                <a:uFillTx/>
                <a:latin typeface="Aptos"/>
              </a:rPr>
              <a:t>4</a:t>
            </a:r>
            <a:endParaRPr b="0" lang="en-US" sz="5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Shape 0"/>
          <p:cNvSpPr/>
          <p:nvPr/>
        </p:nvSpPr>
        <p:spPr>
          <a:xfrm>
            <a:off x="0" y="0"/>
            <a:ext cx="12191400" cy="5436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1"/>
          <p:cNvSpPr/>
          <p:nvPr/>
        </p:nvSpPr>
        <p:spPr>
          <a:xfrm>
            <a:off x="411480" y="320040"/>
            <a:ext cx="98751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1b2838"/>
                </a:solidFill>
                <a:effectLst/>
                <a:uFillTx/>
                <a:latin typeface="Aptos"/>
              </a:rPr>
              <a:t>What changed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2"/>
          <p:cNvSpPr/>
          <p:nvPr/>
        </p:nvSpPr>
        <p:spPr>
          <a:xfrm>
            <a:off x="411480" y="713160"/>
            <a:ext cx="9600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67085"/>
                </a:solidFill>
                <a:effectLst/>
                <a:uFillTx/>
                <a:latin typeface="Aptos"/>
              </a:rPr>
              <a:t>A controlled redesign across Docker, CI, tests, Maven and scanner preparation.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Shape 3"/>
          <p:cNvSpPr/>
          <p:nvPr/>
        </p:nvSpPr>
        <p:spPr>
          <a:xfrm>
            <a:off x="658440" y="1234440"/>
            <a:ext cx="4800240" cy="749520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7ecf3"/>
            </a:solidFill>
            <a:round/>
          </a:ln>
          <a:effectLst>
            <a:outerShdw algn="bl" blurRad="19080" dir="2700000" dist="9673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Shape 4"/>
          <p:cNvSpPr/>
          <p:nvPr/>
        </p:nvSpPr>
        <p:spPr>
          <a:xfrm>
            <a:off x="658440" y="1234440"/>
            <a:ext cx="72720" cy="74952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5"/>
          <p:cNvSpPr/>
          <p:nvPr/>
        </p:nvSpPr>
        <p:spPr>
          <a:xfrm>
            <a:off x="887040" y="1380600"/>
            <a:ext cx="19198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1b2838"/>
                </a:solidFill>
                <a:effectLst/>
                <a:uFillTx/>
                <a:latin typeface="Aptos"/>
              </a:rPr>
              <a:t>Docker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6"/>
          <p:cNvSpPr/>
          <p:nvPr/>
        </p:nvSpPr>
        <p:spPr>
          <a:xfrm>
            <a:off x="887040" y="1654920"/>
            <a:ext cx="42058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80" strike="noStrike" u="none">
                <a:solidFill>
                  <a:srgbClr val="667085"/>
                </a:solidFill>
                <a:effectLst/>
                <a:uFillTx/>
                <a:latin typeface="Aptos"/>
              </a:rPr>
              <a:t>Focused context; stable layers before volatile artefacts.</a:t>
            </a:r>
            <a:endParaRPr b="0" lang="en-US" sz="6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Shape 7"/>
          <p:cNvSpPr/>
          <p:nvPr/>
        </p:nvSpPr>
        <p:spPr>
          <a:xfrm>
            <a:off x="6309360" y="1234440"/>
            <a:ext cx="4800240" cy="749520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7ecf3"/>
            </a:solidFill>
            <a:round/>
          </a:ln>
          <a:effectLst>
            <a:outerShdw algn="bl" blurRad="19080" dir="2700000" dist="9673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Shape 8"/>
          <p:cNvSpPr/>
          <p:nvPr/>
        </p:nvSpPr>
        <p:spPr>
          <a:xfrm>
            <a:off x="6309360" y="1234440"/>
            <a:ext cx="72720" cy="749520"/>
          </a:xfrm>
          <a:prstGeom prst="rect">
            <a:avLst/>
          </a:prstGeom>
          <a:solidFill>
            <a:srgbClr val="2f6eeb"/>
          </a:solidFill>
          <a:ln w="12700">
            <a:solidFill>
              <a:srgbClr val="2f6e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9"/>
          <p:cNvSpPr/>
          <p:nvPr/>
        </p:nvSpPr>
        <p:spPr>
          <a:xfrm>
            <a:off x="6537960" y="1380600"/>
            <a:ext cx="19198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1b2838"/>
                </a:solidFill>
                <a:effectLst/>
                <a:uFillTx/>
                <a:latin typeface="Aptos"/>
              </a:rPr>
              <a:t>Test architecture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10"/>
          <p:cNvSpPr/>
          <p:nvPr/>
        </p:nvSpPr>
        <p:spPr>
          <a:xfrm>
            <a:off x="6537960" y="1654920"/>
            <a:ext cx="42058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80" strike="noStrike" u="none">
                <a:solidFill>
                  <a:srgbClr val="667085"/>
                </a:solidFill>
                <a:effectLst/>
                <a:uFillTx/>
                <a:latin typeface="Aptos"/>
              </a:rPr>
              <a:t>Infrastructure owned by Testcontainers; application in test JVM.</a:t>
            </a:r>
            <a:endParaRPr b="0" lang="en-US" sz="6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Shape 11"/>
          <p:cNvSpPr/>
          <p:nvPr/>
        </p:nvSpPr>
        <p:spPr>
          <a:xfrm>
            <a:off x="658440" y="2468880"/>
            <a:ext cx="4800240" cy="749520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7ecf3"/>
            </a:solidFill>
            <a:round/>
          </a:ln>
          <a:effectLst>
            <a:outerShdw algn="bl" blurRad="19080" dir="2700000" dist="9673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Shape 12"/>
          <p:cNvSpPr/>
          <p:nvPr/>
        </p:nvSpPr>
        <p:spPr>
          <a:xfrm>
            <a:off x="658440" y="2468880"/>
            <a:ext cx="72720" cy="749520"/>
          </a:xfrm>
          <a:prstGeom prst="rect">
            <a:avLst/>
          </a:prstGeom>
          <a:solidFill>
            <a:srgbClr val="18a957"/>
          </a:solidFill>
          <a:ln w="12700">
            <a:solidFill>
              <a:srgbClr val="18a95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13"/>
          <p:cNvSpPr/>
          <p:nvPr/>
        </p:nvSpPr>
        <p:spPr>
          <a:xfrm>
            <a:off x="887040" y="2615040"/>
            <a:ext cx="19198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1b2838"/>
                </a:solidFill>
                <a:effectLst/>
                <a:uFillTx/>
                <a:latin typeface="Aptos"/>
              </a:rPr>
              <a:t>Reliability guards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14"/>
          <p:cNvSpPr/>
          <p:nvPr/>
        </p:nvSpPr>
        <p:spPr>
          <a:xfrm>
            <a:off x="887040" y="2889360"/>
            <a:ext cx="42058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80" strike="noStrike" u="none">
                <a:solidFill>
                  <a:srgbClr val="667085"/>
                </a:solidFill>
                <a:effectLst/>
                <a:uFillTx/>
                <a:latin typeface="Aptos"/>
              </a:rPr>
              <a:t>Scenario counting, Docker availability and zero-test protections.</a:t>
            </a:r>
            <a:endParaRPr b="0" lang="en-US" sz="6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Shape 15"/>
          <p:cNvSpPr/>
          <p:nvPr/>
        </p:nvSpPr>
        <p:spPr>
          <a:xfrm>
            <a:off x="6309360" y="2468880"/>
            <a:ext cx="4800240" cy="749520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7ecf3"/>
            </a:solidFill>
            <a:round/>
          </a:ln>
          <a:effectLst>
            <a:outerShdw algn="bl" blurRad="19080" dir="2700000" dist="9673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Shape 16"/>
          <p:cNvSpPr/>
          <p:nvPr/>
        </p:nvSpPr>
        <p:spPr>
          <a:xfrm>
            <a:off x="6309360" y="2468880"/>
            <a:ext cx="72720" cy="749520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17"/>
          <p:cNvSpPr/>
          <p:nvPr/>
        </p:nvSpPr>
        <p:spPr>
          <a:xfrm>
            <a:off x="6537960" y="2615040"/>
            <a:ext cx="19198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1b2838"/>
                </a:solidFill>
                <a:effectLst/>
                <a:uFillTx/>
                <a:latin typeface="Aptos"/>
              </a:rPr>
              <a:t>Runtime validation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18"/>
          <p:cNvSpPr/>
          <p:nvPr/>
        </p:nvSpPr>
        <p:spPr>
          <a:xfrm>
            <a:off x="6537960" y="2889360"/>
            <a:ext cx="42058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80" strike="noStrike" u="none">
                <a:solidFill>
                  <a:srgbClr val="667085"/>
                </a:solidFill>
                <a:effectLst/>
                <a:uFillTx/>
                <a:latin typeface="Aptos"/>
              </a:rPr>
              <a:t>Exact image startup remains independently checked.</a:t>
            </a:r>
            <a:endParaRPr b="0" lang="en-US" sz="6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Shape 19"/>
          <p:cNvSpPr/>
          <p:nvPr/>
        </p:nvSpPr>
        <p:spPr>
          <a:xfrm>
            <a:off x="658440" y="3703320"/>
            <a:ext cx="4800240" cy="749520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7ecf3"/>
            </a:solidFill>
            <a:round/>
          </a:ln>
          <a:effectLst>
            <a:outerShdw algn="bl" blurRad="19080" dir="2700000" dist="9673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Shape 20"/>
          <p:cNvSpPr/>
          <p:nvPr/>
        </p:nvSpPr>
        <p:spPr>
          <a:xfrm>
            <a:off x="658440" y="3703320"/>
            <a:ext cx="72720" cy="749520"/>
          </a:xfrm>
          <a:prstGeom prst="rect">
            <a:avLst/>
          </a:prstGeom>
          <a:solidFill>
            <a:srgbClr val="f4a000"/>
          </a:solidFill>
          <a:ln w="12700">
            <a:solidFill>
              <a:srgbClr val="f4a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21"/>
          <p:cNvSpPr/>
          <p:nvPr/>
        </p:nvSpPr>
        <p:spPr>
          <a:xfrm>
            <a:off x="887040" y="3849480"/>
            <a:ext cx="19198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1b2838"/>
                </a:solidFill>
                <a:effectLst/>
                <a:uFillTx/>
                <a:latin typeface="Aptos"/>
              </a:rPr>
              <a:t>Maven reuse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22"/>
          <p:cNvSpPr/>
          <p:nvPr/>
        </p:nvSpPr>
        <p:spPr>
          <a:xfrm>
            <a:off x="887040" y="4123800"/>
            <a:ext cx="42058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80" strike="noStrike" u="none">
                <a:solidFill>
                  <a:srgbClr val="667085"/>
                </a:solidFill>
                <a:effectLst/>
                <a:uFillTx/>
                <a:latin typeface="Aptos"/>
              </a:rPr>
              <a:t>Verified outputs reused; duplicate work removed.</a:t>
            </a:r>
            <a:endParaRPr b="0" lang="en-US" sz="6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Shape 23"/>
          <p:cNvSpPr/>
          <p:nvPr/>
        </p:nvSpPr>
        <p:spPr>
          <a:xfrm>
            <a:off x="6309360" y="3703320"/>
            <a:ext cx="4800240" cy="749520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7ecf3"/>
            </a:solidFill>
            <a:round/>
          </a:ln>
          <a:effectLst>
            <a:outerShdw algn="bl" blurRad="19080" dir="2700000" dist="9673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Shape 24"/>
          <p:cNvSpPr/>
          <p:nvPr/>
        </p:nvSpPr>
        <p:spPr>
          <a:xfrm>
            <a:off x="6309360" y="3703320"/>
            <a:ext cx="72720" cy="749520"/>
          </a:xfrm>
          <a:prstGeom prst="rect">
            <a:avLst/>
          </a:prstGeom>
          <a:solidFill>
            <a:srgbClr val="e95545"/>
          </a:solidFill>
          <a:ln w="12700">
            <a:solidFill>
              <a:srgbClr val="e955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25"/>
          <p:cNvSpPr/>
          <p:nvPr/>
        </p:nvSpPr>
        <p:spPr>
          <a:xfrm>
            <a:off x="6537960" y="3849480"/>
            <a:ext cx="19198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1b2838"/>
                </a:solidFill>
                <a:effectLst/>
                <a:uFillTx/>
                <a:latin typeface="Aptos"/>
              </a:rPr>
              <a:t>Trivy critical path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26"/>
          <p:cNvSpPr/>
          <p:nvPr/>
        </p:nvSpPr>
        <p:spPr>
          <a:xfrm>
            <a:off x="6537960" y="4123800"/>
            <a:ext cx="42058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80" strike="noStrike" u="none">
                <a:solidFill>
                  <a:srgbClr val="667085"/>
                </a:solidFill>
                <a:effectLst/>
                <a:uFillTx/>
                <a:latin typeface="Aptos"/>
              </a:rPr>
              <a:t>DB preparation moved earlier; scan retained.</a:t>
            </a:r>
            <a:endParaRPr b="0" lang="en-US" sz="6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27"/>
          <p:cNvSpPr/>
          <p:nvPr/>
        </p:nvSpPr>
        <p:spPr>
          <a:xfrm>
            <a:off x="713160" y="5577840"/>
            <a:ext cx="10054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50" strike="noStrike" u="none">
                <a:solidFill>
                  <a:srgbClr val="00a6a6"/>
                </a:solidFill>
                <a:effectLst/>
                <a:uFillTx/>
                <a:latin typeface="Aptos"/>
              </a:rPr>
              <a:t>Design rule</a:t>
            </a:r>
            <a:endParaRPr b="0" lang="en-US" sz="6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28"/>
          <p:cNvSpPr/>
          <p:nvPr/>
        </p:nvSpPr>
        <p:spPr>
          <a:xfrm>
            <a:off x="1874520" y="5577840"/>
            <a:ext cx="74977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00" strike="noStrike" u="none">
                <a:solidFill>
                  <a:srgbClr val="1b2838"/>
                </a:solidFill>
                <a:effectLst/>
                <a:uFillTx/>
                <a:latin typeface="Aptos"/>
              </a:rPr>
              <a:t>Keep validations. Remove duplicated work. Overlap independent preparation. Measure and revert anything that does not help.</a:t>
            </a:r>
            <a:endParaRPr b="0" lang="en-US" sz="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29"/>
          <p:cNvSpPr/>
          <p:nvPr/>
        </p:nvSpPr>
        <p:spPr>
          <a:xfrm>
            <a:off x="411480" y="6546960"/>
            <a:ext cx="53031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580" strike="noStrike" u="none">
                <a:solidFill>
                  <a:srgbClr val="a0aec0"/>
                </a:solidFill>
                <a:effectLst/>
                <a:uFillTx/>
                <a:latin typeface="Aptos"/>
              </a:rPr>
              <a:t>FDP Command Adaptor SNS — CI/CD Optimisation</a:t>
            </a:r>
            <a:endParaRPr b="0" lang="en-US" sz="5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30"/>
          <p:cNvSpPr/>
          <p:nvPr/>
        </p:nvSpPr>
        <p:spPr>
          <a:xfrm>
            <a:off x="11658600" y="6528960"/>
            <a:ext cx="2008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580" strike="noStrike" u="none">
                <a:solidFill>
                  <a:srgbClr val="a0aec0"/>
                </a:solidFill>
                <a:effectLst/>
                <a:uFillTx/>
                <a:latin typeface="Aptos"/>
              </a:rPr>
              <a:t>5</a:t>
            </a:r>
            <a:endParaRPr b="0" lang="en-US" sz="5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Shape 0"/>
          <p:cNvSpPr/>
          <p:nvPr/>
        </p:nvSpPr>
        <p:spPr>
          <a:xfrm>
            <a:off x="0" y="0"/>
            <a:ext cx="12191400" cy="5436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1"/>
          <p:cNvSpPr/>
          <p:nvPr/>
        </p:nvSpPr>
        <p:spPr>
          <a:xfrm>
            <a:off x="411480" y="320040"/>
            <a:ext cx="98751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1b2838"/>
                </a:solidFill>
                <a:effectLst/>
                <a:uFillTx/>
                <a:latin typeface="Aptos"/>
              </a:rPr>
              <a:t>After: consolidated test-owned lifecycle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2"/>
          <p:cNvSpPr/>
          <p:nvPr/>
        </p:nvSpPr>
        <p:spPr>
          <a:xfrm>
            <a:off x="411480" y="713160"/>
            <a:ext cx="9600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67085"/>
                </a:solidFill>
                <a:effectLst/>
                <a:uFillTx/>
                <a:latin typeface="Aptos"/>
              </a:rPr>
              <a:t>Independent setup work overlaps; correctness gates remain sequential.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Shape 3"/>
          <p:cNvSpPr/>
          <p:nvPr/>
        </p:nvSpPr>
        <p:spPr>
          <a:xfrm>
            <a:off x="685800" y="1325880"/>
            <a:ext cx="1279800" cy="43848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240">
            <a:solidFill>
              <a:srgbClr val="0a2c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4"/>
          <p:cNvSpPr/>
          <p:nvPr/>
        </p:nvSpPr>
        <p:spPr>
          <a:xfrm>
            <a:off x="740520" y="1435680"/>
            <a:ext cx="11700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20" strike="noStrike" u="none">
                <a:solidFill>
                  <a:srgbClr val="1b2838"/>
                </a:solidFill>
                <a:effectLst/>
                <a:uFillTx/>
                <a:latin typeface="Aptos"/>
              </a:rPr>
              <a:t>Retrieve secrets</a:t>
            </a:r>
            <a:endParaRPr b="0" lang="en-US" sz="6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Shape 5"/>
          <p:cNvSpPr/>
          <p:nvPr/>
        </p:nvSpPr>
        <p:spPr>
          <a:xfrm>
            <a:off x="2743200" y="1078920"/>
            <a:ext cx="1142640" cy="43848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240">
            <a:solidFill>
              <a:srgbClr val="2f6e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6"/>
          <p:cNvSpPr/>
          <p:nvPr/>
        </p:nvSpPr>
        <p:spPr>
          <a:xfrm>
            <a:off x="2797920" y="1188720"/>
            <a:ext cx="1032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20" strike="noStrike" u="none">
                <a:solidFill>
                  <a:srgbClr val="1b2838"/>
                </a:solidFill>
                <a:effectLst/>
                <a:uFillTx/>
                <a:latin typeface="Aptos"/>
              </a:rPr>
              <a:t>Wait for Docker</a:t>
            </a:r>
            <a:endParaRPr b="0" lang="en-US" sz="6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Shape 7"/>
          <p:cNvSpPr/>
          <p:nvPr/>
        </p:nvSpPr>
        <p:spPr>
          <a:xfrm>
            <a:off x="2743200" y="1764720"/>
            <a:ext cx="1142640" cy="43848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240">
            <a:solidFill>
              <a:srgbClr val="00a6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8"/>
          <p:cNvSpPr/>
          <p:nvPr/>
        </p:nvSpPr>
        <p:spPr>
          <a:xfrm>
            <a:off x="2797920" y="1874520"/>
            <a:ext cx="1032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20" strike="noStrike" u="none">
                <a:solidFill>
                  <a:srgbClr val="1b2838"/>
                </a:solidFill>
                <a:effectLst/>
                <a:uFillTx/>
                <a:latin typeface="Aptos"/>
              </a:rPr>
              <a:t>Extract adaptor info</a:t>
            </a:r>
            <a:endParaRPr b="0" lang="en-US" sz="6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Shape 9"/>
          <p:cNvSpPr/>
          <p:nvPr/>
        </p:nvSpPr>
        <p:spPr>
          <a:xfrm>
            <a:off x="2743200" y="2450520"/>
            <a:ext cx="1142640" cy="43848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240">
            <a:solidFill>
              <a:srgbClr val="e955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10"/>
          <p:cNvSpPr/>
          <p:nvPr/>
        </p:nvSpPr>
        <p:spPr>
          <a:xfrm>
            <a:off x="2797920" y="2560320"/>
            <a:ext cx="1032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20" strike="noStrike" u="none">
                <a:solidFill>
                  <a:srgbClr val="1b2838"/>
                </a:solidFill>
                <a:effectLst/>
                <a:uFillTx/>
                <a:latin typeface="Aptos"/>
              </a:rPr>
              <a:t>Prepare Trivy DB</a:t>
            </a:r>
            <a:endParaRPr b="0" lang="en-US" sz="6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Shape 11"/>
          <p:cNvSpPr/>
          <p:nvPr/>
        </p:nvSpPr>
        <p:spPr>
          <a:xfrm>
            <a:off x="4709160" y="1764720"/>
            <a:ext cx="2057040" cy="4752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5240">
            <a:solidFill>
              <a:srgbClr val="00a6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12"/>
          <p:cNvSpPr/>
          <p:nvPr/>
        </p:nvSpPr>
        <p:spPr>
          <a:xfrm>
            <a:off x="4763880" y="1874520"/>
            <a:ext cx="19472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20" strike="noStrike" u="none">
                <a:solidFill>
                  <a:srgbClr val="1b2838"/>
                </a:solidFill>
                <a:effectLst/>
                <a:uFillTx/>
                <a:latin typeface="Aptos"/>
              </a:rPr>
              <a:t>Build/Test with Testcontainers</a:t>
            </a:r>
            <a:endParaRPr b="0" lang="en-US" sz="6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Shape 13"/>
          <p:cNvSpPr/>
          <p:nvPr/>
        </p:nvSpPr>
        <p:spPr>
          <a:xfrm>
            <a:off x="7315200" y="1764720"/>
            <a:ext cx="914040" cy="43848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240">
            <a:solidFill>
              <a:srgbClr val="66708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14"/>
          <p:cNvSpPr/>
          <p:nvPr/>
        </p:nvSpPr>
        <p:spPr>
          <a:xfrm>
            <a:off x="7369920" y="1874520"/>
            <a:ext cx="804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20" strike="noStrike" u="none">
                <a:solidFill>
                  <a:srgbClr val="1b2838"/>
                </a:solidFill>
                <a:effectLst/>
                <a:uFillTx/>
                <a:latin typeface="Aptos"/>
              </a:rPr>
              <a:t>Build image</a:t>
            </a:r>
            <a:endParaRPr b="0" lang="en-US" sz="6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Shape 15"/>
          <p:cNvSpPr/>
          <p:nvPr/>
        </p:nvSpPr>
        <p:spPr>
          <a:xfrm>
            <a:off x="8732520" y="1764720"/>
            <a:ext cx="1782720" cy="43848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240">
            <a:solidFill>
              <a:srgbClr val="7b61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16"/>
          <p:cNvSpPr/>
          <p:nvPr/>
        </p:nvSpPr>
        <p:spPr>
          <a:xfrm>
            <a:off x="8787240" y="1874520"/>
            <a:ext cx="16729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20" strike="noStrike" u="none">
                <a:solidFill>
                  <a:srgbClr val="1b2838"/>
                </a:solidFill>
                <a:effectLst/>
                <a:uFillTx/>
                <a:latin typeface="Aptos"/>
              </a:rPr>
              <a:t>Validate built image runtime</a:t>
            </a:r>
            <a:endParaRPr b="0" lang="en-US" sz="6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Shape 17"/>
          <p:cNvSpPr/>
          <p:nvPr/>
        </p:nvSpPr>
        <p:spPr>
          <a:xfrm>
            <a:off x="10972800" y="1764720"/>
            <a:ext cx="731160" cy="43848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240">
            <a:solidFill>
              <a:srgbClr val="e955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18"/>
          <p:cNvSpPr/>
          <p:nvPr/>
        </p:nvSpPr>
        <p:spPr>
          <a:xfrm>
            <a:off x="11027520" y="1874520"/>
            <a:ext cx="6213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20" strike="noStrike" u="none">
                <a:solidFill>
                  <a:srgbClr val="1b2838"/>
                </a:solidFill>
                <a:effectLst/>
                <a:uFillTx/>
                <a:latin typeface="Aptos"/>
              </a:rPr>
              <a:t>Trivy scan</a:t>
            </a:r>
            <a:endParaRPr b="0" lang="en-US" sz="6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Shape 19"/>
          <p:cNvSpPr/>
          <p:nvPr/>
        </p:nvSpPr>
        <p:spPr>
          <a:xfrm flipV="1">
            <a:off x="1965960" y="1307520"/>
            <a:ext cx="777240" cy="237600"/>
          </a:xfrm>
          <a:prstGeom prst="line">
            <a:avLst/>
          </a:prstGeom>
          <a:ln w="13970">
            <a:solidFill>
              <a:srgbClr val="98a2b3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Shape 20"/>
          <p:cNvSpPr/>
          <p:nvPr/>
        </p:nvSpPr>
        <p:spPr>
          <a:xfrm>
            <a:off x="1965960" y="1545120"/>
            <a:ext cx="777240" cy="429840"/>
          </a:xfrm>
          <a:prstGeom prst="line">
            <a:avLst/>
          </a:prstGeom>
          <a:ln w="13970">
            <a:solidFill>
              <a:srgbClr val="98a2b3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Shape 21"/>
          <p:cNvSpPr/>
          <p:nvPr/>
        </p:nvSpPr>
        <p:spPr>
          <a:xfrm>
            <a:off x="1965960" y="1545120"/>
            <a:ext cx="777240" cy="1115640"/>
          </a:xfrm>
          <a:prstGeom prst="line">
            <a:avLst/>
          </a:prstGeom>
          <a:ln w="13970">
            <a:solidFill>
              <a:srgbClr val="98a2b3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Shape 22"/>
          <p:cNvSpPr/>
          <p:nvPr/>
        </p:nvSpPr>
        <p:spPr>
          <a:xfrm>
            <a:off x="3886200" y="1307520"/>
            <a:ext cx="822960" cy="621720"/>
          </a:xfrm>
          <a:prstGeom prst="line">
            <a:avLst/>
          </a:prstGeom>
          <a:ln w="13970">
            <a:solidFill>
              <a:srgbClr val="98a2b3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Shape 23"/>
          <p:cNvSpPr/>
          <p:nvPr/>
        </p:nvSpPr>
        <p:spPr>
          <a:xfrm>
            <a:off x="3886200" y="1974960"/>
            <a:ext cx="822960" cy="360"/>
          </a:xfrm>
          <a:prstGeom prst="line">
            <a:avLst/>
          </a:prstGeom>
          <a:ln w="13970">
            <a:solidFill>
              <a:srgbClr val="98a2b3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Shape 24"/>
          <p:cNvSpPr/>
          <p:nvPr/>
        </p:nvSpPr>
        <p:spPr>
          <a:xfrm flipV="1">
            <a:off x="6766560" y="1993320"/>
            <a:ext cx="548640" cy="9000"/>
          </a:xfrm>
          <a:prstGeom prst="line">
            <a:avLst/>
          </a:prstGeom>
          <a:ln w="13970">
            <a:solidFill>
              <a:srgbClr val="98a2b3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36000" bIns="-36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Shape 25"/>
          <p:cNvSpPr/>
          <p:nvPr/>
        </p:nvSpPr>
        <p:spPr>
          <a:xfrm>
            <a:off x="8229600" y="1993320"/>
            <a:ext cx="502920" cy="360"/>
          </a:xfrm>
          <a:prstGeom prst="line">
            <a:avLst/>
          </a:prstGeom>
          <a:ln w="13970">
            <a:solidFill>
              <a:srgbClr val="98a2b3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Shape 26"/>
          <p:cNvSpPr/>
          <p:nvPr/>
        </p:nvSpPr>
        <p:spPr>
          <a:xfrm>
            <a:off x="10515600" y="1993320"/>
            <a:ext cx="457200" cy="360"/>
          </a:xfrm>
          <a:prstGeom prst="line">
            <a:avLst/>
          </a:prstGeom>
          <a:ln w="13970">
            <a:solidFill>
              <a:srgbClr val="98a2b3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Shape 27"/>
          <p:cNvSpPr/>
          <p:nvPr/>
        </p:nvSpPr>
        <p:spPr>
          <a:xfrm flipV="1">
            <a:off x="3886200" y="2176200"/>
            <a:ext cx="7086600" cy="484560"/>
          </a:xfrm>
          <a:prstGeom prst="line">
            <a:avLst/>
          </a:prstGeom>
          <a:ln w="13970">
            <a:solidFill>
              <a:srgbClr val="e95545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Shape 28"/>
          <p:cNvSpPr/>
          <p:nvPr/>
        </p:nvSpPr>
        <p:spPr>
          <a:xfrm>
            <a:off x="777240" y="4206240"/>
            <a:ext cx="2971440" cy="914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cf3"/>
            </a:solidFill>
            <a:round/>
          </a:ln>
          <a:effectLst>
            <a:outerShdw algn="bl" blurRad="19080" dir="2700000" dist="9673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29"/>
          <p:cNvSpPr/>
          <p:nvPr/>
        </p:nvSpPr>
        <p:spPr>
          <a:xfrm>
            <a:off x="1005840" y="4434840"/>
            <a:ext cx="25599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20" strike="noStrike" u="none">
                <a:solidFill>
                  <a:srgbClr val="1b2838"/>
                </a:solidFill>
                <a:effectLst/>
                <a:uFillTx/>
                <a:latin typeface="Aptos"/>
              </a:rPr>
              <a:t>Parallel preparation</a:t>
            </a:r>
            <a:endParaRPr b="0" lang="en-US" sz="8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30"/>
          <p:cNvSpPr/>
          <p:nvPr/>
        </p:nvSpPr>
        <p:spPr>
          <a:xfrm>
            <a:off x="1005840" y="4709160"/>
            <a:ext cx="25599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80" strike="noStrike" u="none">
                <a:solidFill>
                  <a:srgbClr val="667085"/>
                </a:solidFill>
                <a:effectLst/>
                <a:uFillTx/>
                <a:latin typeface="Aptos"/>
              </a:rPr>
              <a:t>Docker readiness, adaptor info and Trivy DB work overlap.</a:t>
            </a:r>
            <a:endParaRPr b="0" lang="en-US" sz="6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Shape 31"/>
          <p:cNvSpPr/>
          <p:nvPr/>
        </p:nvSpPr>
        <p:spPr>
          <a:xfrm>
            <a:off x="4480560" y="4206240"/>
            <a:ext cx="2971440" cy="914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cf3"/>
            </a:solidFill>
            <a:round/>
          </a:ln>
          <a:effectLst>
            <a:outerShdw algn="bl" blurRad="19080" dir="2700000" dist="9673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32"/>
          <p:cNvSpPr/>
          <p:nvPr/>
        </p:nvSpPr>
        <p:spPr>
          <a:xfrm>
            <a:off x="4709160" y="4434840"/>
            <a:ext cx="25599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20" strike="noStrike" u="none">
                <a:solidFill>
                  <a:srgbClr val="1b2838"/>
                </a:solidFill>
                <a:effectLst/>
                <a:uFillTx/>
                <a:latin typeface="Aptos"/>
              </a:rPr>
              <a:t>Test-owned dependencies</a:t>
            </a:r>
            <a:endParaRPr b="0" lang="en-US" sz="8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33"/>
          <p:cNvSpPr/>
          <p:nvPr/>
        </p:nvSpPr>
        <p:spPr>
          <a:xfrm>
            <a:off x="4709160" y="4709160"/>
            <a:ext cx="25599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80" strike="noStrike" u="none">
                <a:solidFill>
                  <a:srgbClr val="667085"/>
                </a:solidFill>
                <a:effectLst/>
                <a:uFillTx/>
                <a:latin typeface="Aptos"/>
              </a:rPr>
              <a:t>Redis, Kafka, Schema Registry and aggregates live in the test lifecycle.</a:t>
            </a:r>
            <a:endParaRPr b="0" lang="en-US" sz="6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Shape 34"/>
          <p:cNvSpPr/>
          <p:nvPr/>
        </p:nvSpPr>
        <p:spPr>
          <a:xfrm>
            <a:off x="8183880" y="4206240"/>
            <a:ext cx="2971440" cy="914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cf3"/>
            </a:solidFill>
            <a:round/>
          </a:ln>
          <a:effectLst>
            <a:outerShdw algn="bl" blurRad="19080" dir="2700000" dist="9673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 35"/>
          <p:cNvSpPr/>
          <p:nvPr/>
        </p:nvSpPr>
        <p:spPr>
          <a:xfrm>
            <a:off x="8412480" y="4434840"/>
            <a:ext cx="25599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20" strike="noStrike" u="none">
                <a:solidFill>
                  <a:srgbClr val="1b2838"/>
                </a:solidFill>
                <a:effectLst/>
                <a:uFillTx/>
                <a:latin typeface="Aptos"/>
              </a:rPr>
              <a:t>Sequential gates retained</a:t>
            </a:r>
            <a:endParaRPr b="0" lang="en-US" sz="8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 36"/>
          <p:cNvSpPr/>
          <p:nvPr/>
        </p:nvSpPr>
        <p:spPr>
          <a:xfrm>
            <a:off x="8412480" y="4709160"/>
            <a:ext cx="25599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80" strike="noStrike" u="none">
                <a:solidFill>
                  <a:srgbClr val="667085"/>
                </a:solidFill>
                <a:effectLst/>
                <a:uFillTx/>
                <a:latin typeface="Aptos"/>
              </a:rPr>
              <a:t>Tests → image build → runtime validation → final scan.</a:t>
            </a:r>
            <a:endParaRPr b="0" lang="en-US" sz="6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37"/>
          <p:cNvSpPr/>
          <p:nvPr/>
        </p:nvSpPr>
        <p:spPr>
          <a:xfrm>
            <a:off x="411480" y="6546960"/>
            <a:ext cx="53031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580" strike="noStrike" u="none">
                <a:solidFill>
                  <a:srgbClr val="a0aec0"/>
                </a:solidFill>
                <a:effectLst/>
                <a:uFillTx/>
                <a:latin typeface="Aptos"/>
              </a:rPr>
              <a:t>FDP Command Adaptor SNS — CI/CD Optimisation</a:t>
            </a:r>
            <a:endParaRPr b="0" lang="en-US" sz="5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38"/>
          <p:cNvSpPr/>
          <p:nvPr/>
        </p:nvSpPr>
        <p:spPr>
          <a:xfrm>
            <a:off x="11658600" y="6528960"/>
            <a:ext cx="2008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580" strike="noStrike" u="none">
                <a:solidFill>
                  <a:srgbClr val="a0aec0"/>
                </a:solidFill>
                <a:effectLst/>
                <a:uFillTx/>
                <a:latin typeface="Aptos"/>
              </a:rPr>
              <a:t>6</a:t>
            </a:r>
            <a:endParaRPr b="0" lang="en-US" sz="5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Shape 0"/>
          <p:cNvSpPr/>
          <p:nvPr/>
        </p:nvSpPr>
        <p:spPr>
          <a:xfrm>
            <a:off x="0" y="0"/>
            <a:ext cx="12191400" cy="5436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1"/>
          <p:cNvSpPr/>
          <p:nvPr/>
        </p:nvSpPr>
        <p:spPr>
          <a:xfrm>
            <a:off x="411480" y="320040"/>
            <a:ext cx="98751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1b2838"/>
                </a:solidFill>
                <a:effectLst/>
                <a:uFillTx/>
                <a:latin typeface="Aptos"/>
              </a:rPr>
              <a:t>Measured result: the pipeline is roughly one third of the previous duration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2"/>
          <p:cNvSpPr/>
          <p:nvPr/>
        </p:nvSpPr>
        <p:spPr>
          <a:xfrm>
            <a:off x="411480" y="713160"/>
            <a:ext cx="9600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67085"/>
                </a:solidFill>
                <a:effectLst/>
                <a:uFillTx/>
                <a:latin typeface="Aptos"/>
              </a:rPr>
              <a:t>Successful CI baseline average compared with two measured optimised runs.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Shape 3"/>
          <p:cNvSpPr/>
          <p:nvPr/>
        </p:nvSpPr>
        <p:spPr>
          <a:xfrm>
            <a:off x="822960" y="5486400"/>
            <a:ext cx="7223760" cy="360"/>
          </a:xfrm>
          <a:prstGeom prst="line">
            <a:avLst/>
          </a:prstGeom>
          <a:ln w="6350">
            <a:solidFill>
              <a:srgbClr val="e6ea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 4"/>
          <p:cNvSpPr/>
          <p:nvPr/>
        </p:nvSpPr>
        <p:spPr>
          <a:xfrm>
            <a:off x="475560" y="5440680"/>
            <a:ext cx="319680" cy="10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540" strike="noStrike" u="none">
                <a:solidFill>
                  <a:srgbClr val="98a2b3"/>
                </a:solidFill>
                <a:effectLst/>
                <a:uFillTx/>
                <a:latin typeface="Aptos"/>
              </a:rPr>
              <a:t>0</a:t>
            </a:r>
            <a:endParaRPr b="0" lang="en-US" sz="5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Shape 5"/>
          <p:cNvSpPr/>
          <p:nvPr/>
        </p:nvSpPr>
        <p:spPr>
          <a:xfrm>
            <a:off x="822960" y="4163040"/>
            <a:ext cx="7223760" cy="360"/>
          </a:xfrm>
          <a:prstGeom prst="line">
            <a:avLst/>
          </a:prstGeom>
          <a:ln w="6350">
            <a:solidFill>
              <a:srgbClr val="e6ea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6"/>
          <p:cNvSpPr/>
          <p:nvPr/>
        </p:nvSpPr>
        <p:spPr>
          <a:xfrm>
            <a:off x="475560" y="4117320"/>
            <a:ext cx="319680" cy="10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540" strike="noStrike" u="none">
                <a:solidFill>
                  <a:srgbClr val="98a2b3"/>
                </a:solidFill>
                <a:effectLst/>
                <a:uFillTx/>
                <a:latin typeface="Aptos"/>
              </a:rPr>
              <a:t>300</a:t>
            </a:r>
            <a:endParaRPr b="0" lang="en-US" sz="5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Shape 7"/>
          <p:cNvSpPr/>
          <p:nvPr/>
        </p:nvSpPr>
        <p:spPr>
          <a:xfrm>
            <a:off x="822960" y="2839680"/>
            <a:ext cx="7223760" cy="360"/>
          </a:xfrm>
          <a:prstGeom prst="line">
            <a:avLst/>
          </a:prstGeom>
          <a:ln w="6350">
            <a:solidFill>
              <a:srgbClr val="e6ea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 8"/>
          <p:cNvSpPr/>
          <p:nvPr/>
        </p:nvSpPr>
        <p:spPr>
          <a:xfrm>
            <a:off x="475560" y="2794320"/>
            <a:ext cx="319680" cy="10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540" strike="noStrike" u="none">
                <a:solidFill>
                  <a:srgbClr val="98a2b3"/>
                </a:solidFill>
                <a:effectLst/>
                <a:uFillTx/>
                <a:latin typeface="Aptos"/>
              </a:rPr>
              <a:t>600</a:t>
            </a:r>
            <a:endParaRPr b="0" lang="en-US" sz="5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Shape 9"/>
          <p:cNvSpPr/>
          <p:nvPr/>
        </p:nvSpPr>
        <p:spPr>
          <a:xfrm>
            <a:off x="822960" y="1957680"/>
            <a:ext cx="7223760" cy="360"/>
          </a:xfrm>
          <a:prstGeom prst="line">
            <a:avLst/>
          </a:prstGeom>
          <a:ln w="6350">
            <a:solidFill>
              <a:srgbClr val="e6ea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 10"/>
          <p:cNvSpPr/>
          <p:nvPr/>
        </p:nvSpPr>
        <p:spPr>
          <a:xfrm>
            <a:off x="475560" y="1912320"/>
            <a:ext cx="319680" cy="10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540" strike="noStrike" u="none">
                <a:solidFill>
                  <a:srgbClr val="98a2b3"/>
                </a:solidFill>
                <a:effectLst/>
                <a:uFillTx/>
                <a:latin typeface="Aptos"/>
              </a:rPr>
              <a:t>800</a:t>
            </a:r>
            <a:endParaRPr b="0" lang="en-US" sz="5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Shape 11"/>
          <p:cNvSpPr/>
          <p:nvPr/>
        </p:nvSpPr>
        <p:spPr>
          <a:xfrm>
            <a:off x="1097280" y="1891800"/>
            <a:ext cx="1279800" cy="3594240"/>
          </a:xfrm>
          <a:prstGeom prst="rect">
            <a:avLst/>
          </a:prstGeom>
          <a:solidFill>
            <a:srgbClr val="f4a000"/>
          </a:solidFill>
          <a:ln w="12700">
            <a:solidFill>
              <a:srgbClr val="f4a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 12"/>
          <p:cNvSpPr/>
          <p:nvPr/>
        </p:nvSpPr>
        <p:spPr>
          <a:xfrm>
            <a:off x="1097280" y="1708920"/>
            <a:ext cx="1279800" cy="10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50" strike="noStrike" u="none">
                <a:solidFill>
                  <a:srgbClr val="1b2838"/>
                </a:solidFill>
                <a:effectLst/>
                <a:uFillTx/>
                <a:latin typeface="Aptos"/>
              </a:rPr>
              <a:t>13:35</a:t>
            </a:r>
            <a:endParaRPr b="0" lang="en-US" sz="6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 13"/>
          <p:cNvSpPr/>
          <p:nvPr/>
        </p:nvSpPr>
        <p:spPr>
          <a:xfrm>
            <a:off x="914400" y="5650920"/>
            <a:ext cx="1645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30" strike="noStrike" u="none">
                <a:solidFill>
                  <a:srgbClr val="667085"/>
                </a:solidFill>
                <a:effectLst/>
                <a:uFillTx/>
                <a:latin typeface="Aptos"/>
              </a:rPr>
              <a:t>Baseline average</a:t>
            </a:r>
            <a:endParaRPr b="0" lang="en-US" sz="6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Shape 14"/>
          <p:cNvSpPr/>
          <p:nvPr/>
        </p:nvSpPr>
        <p:spPr>
          <a:xfrm>
            <a:off x="3291840" y="4176360"/>
            <a:ext cx="1279800" cy="130968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 15"/>
          <p:cNvSpPr/>
          <p:nvPr/>
        </p:nvSpPr>
        <p:spPr>
          <a:xfrm>
            <a:off x="3291840" y="3993480"/>
            <a:ext cx="1279800" cy="10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50" strike="noStrike" u="none">
                <a:solidFill>
                  <a:srgbClr val="1b2838"/>
                </a:solidFill>
                <a:effectLst/>
                <a:uFillTx/>
                <a:latin typeface="Aptos"/>
              </a:rPr>
              <a:t>4:57</a:t>
            </a:r>
            <a:endParaRPr b="0" lang="en-US" sz="6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 16"/>
          <p:cNvSpPr/>
          <p:nvPr/>
        </p:nvSpPr>
        <p:spPr>
          <a:xfrm>
            <a:off x="3108960" y="5650920"/>
            <a:ext cx="1645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30" strike="noStrike" u="none">
                <a:solidFill>
                  <a:srgbClr val="667085"/>
                </a:solidFill>
                <a:effectLst/>
                <a:uFillTx/>
                <a:latin typeface="Aptos"/>
              </a:rPr>
              <a:t>Optimised run 1</a:t>
            </a:r>
            <a:endParaRPr b="0" lang="en-US" sz="6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Shape 17"/>
          <p:cNvSpPr/>
          <p:nvPr/>
        </p:nvSpPr>
        <p:spPr>
          <a:xfrm>
            <a:off x="5486400" y="4233960"/>
            <a:ext cx="1279800" cy="125244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 18"/>
          <p:cNvSpPr/>
          <p:nvPr/>
        </p:nvSpPr>
        <p:spPr>
          <a:xfrm>
            <a:off x="5486400" y="4051080"/>
            <a:ext cx="1279800" cy="10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50" strike="noStrike" u="none">
                <a:solidFill>
                  <a:srgbClr val="1b2838"/>
                </a:solidFill>
                <a:effectLst/>
                <a:uFillTx/>
                <a:latin typeface="Aptos"/>
              </a:rPr>
              <a:t>4:44</a:t>
            </a:r>
            <a:endParaRPr b="0" lang="en-US" sz="6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 19"/>
          <p:cNvSpPr/>
          <p:nvPr/>
        </p:nvSpPr>
        <p:spPr>
          <a:xfrm>
            <a:off x="5303520" y="5650920"/>
            <a:ext cx="1645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30" strike="noStrike" u="none">
                <a:solidFill>
                  <a:srgbClr val="667085"/>
                </a:solidFill>
                <a:effectLst/>
                <a:uFillTx/>
                <a:latin typeface="Aptos"/>
              </a:rPr>
              <a:t>Optimised run 2</a:t>
            </a:r>
            <a:endParaRPr b="0" lang="en-US" sz="6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Shape 20"/>
          <p:cNvSpPr/>
          <p:nvPr/>
        </p:nvSpPr>
        <p:spPr>
          <a:xfrm>
            <a:off x="8549640" y="1874520"/>
            <a:ext cx="2057040" cy="71280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7ecf3"/>
            </a:solidFill>
            <a:round/>
          </a:ln>
          <a:effectLst>
            <a:outerShdw algn="bl" blurRad="19080" dir="2700000" dist="9673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 21"/>
          <p:cNvSpPr/>
          <p:nvPr/>
        </p:nvSpPr>
        <p:spPr>
          <a:xfrm>
            <a:off x="8659440" y="1965960"/>
            <a:ext cx="18374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18a957"/>
                </a:solidFill>
                <a:effectLst/>
                <a:uFillTx/>
                <a:latin typeface="Aptos"/>
              </a:rPr>
              <a:t>~65.2%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 22"/>
          <p:cNvSpPr/>
          <p:nvPr/>
        </p:nvSpPr>
        <p:spPr>
          <a:xfrm>
            <a:off x="8659440" y="2313360"/>
            <a:ext cx="18374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60" strike="noStrike" u="none">
                <a:solidFill>
                  <a:srgbClr val="667085"/>
                </a:solidFill>
                <a:effectLst/>
                <a:uFillTx/>
                <a:latin typeface="Aptos"/>
              </a:rPr>
              <a:t>Best observed reduction</a:t>
            </a:r>
            <a:endParaRPr b="0" lang="en-US" sz="6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Shape 23"/>
          <p:cNvSpPr/>
          <p:nvPr/>
        </p:nvSpPr>
        <p:spPr>
          <a:xfrm>
            <a:off x="8549640" y="2880360"/>
            <a:ext cx="2057040" cy="71280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7ecf3"/>
            </a:solidFill>
            <a:round/>
          </a:ln>
          <a:effectLst>
            <a:outerShdw algn="bl" blurRad="19080" dir="2700000" dist="9673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 24"/>
          <p:cNvSpPr/>
          <p:nvPr/>
        </p:nvSpPr>
        <p:spPr>
          <a:xfrm>
            <a:off x="8659440" y="2971800"/>
            <a:ext cx="18374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00a6a6"/>
                </a:solidFill>
                <a:effectLst/>
                <a:uFillTx/>
                <a:latin typeface="Aptos"/>
              </a:rPr>
              <a:t>~2.87x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 25"/>
          <p:cNvSpPr/>
          <p:nvPr/>
        </p:nvSpPr>
        <p:spPr>
          <a:xfrm>
            <a:off x="8659440" y="3319200"/>
            <a:ext cx="18374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60" strike="noStrike" u="none">
                <a:solidFill>
                  <a:srgbClr val="667085"/>
                </a:solidFill>
                <a:effectLst/>
                <a:uFillTx/>
                <a:latin typeface="Aptos"/>
              </a:rPr>
              <a:t>Best observed speed-up</a:t>
            </a:r>
            <a:endParaRPr b="0" lang="en-US" sz="6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Shape 26"/>
          <p:cNvSpPr/>
          <p:nvPr/>
        </p:nvSpPr>
        <p:spPr>
          <a:xfrm>
            <a:off x="8549640" y="3886200"/>
            <a:ext cx="2057040" cy="71280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7ecf3"/>
            </a:solidFill>
            <a:round/>
          </a:ln>
          <a:effectLst>
            <a:outerShdw algn="bl" blurRad="19080" dir="2700000" dist="9673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 27"/>
          <p:cNvSpPr/>
          <p:nvPr/>
        </p:nvSpPr>
        <p:spPr>
          <a:xfrm>
            <a:off x="8659440" y="3977640"/>
            <a:ext cx="18374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f4a000"/>
                </a:solidFill>
                <a:effectLst/>
                <a:uFillTx/>
                <a:latin typeface="Aptos"/>
              </a:rPr>
              <a:t>8m51s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 28"/>
          <p:cNvSpPr/>
          <p:nvPr/>
        </p:nvSpPr>
        <p:spPr>
          <a:xfrm>
            <a:off x="8659440" y="4325040"/>
            <a:ext cx="18374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60" strike="noStrike" u="none">
                <a:solidFill>
                  <a:srgbClr val="667085"/>
                </a:solidFill>
                <a:effectLst/>
                <a:uFillTx/>
                <a:latin typeface="Aptos"/>
              </a:rPr>
              <a:t>Best observed saving</a:t>
            </a:r>
            <a:endParaRPr b="0" lang="en-US" sz="6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Shape 29"/>
          <p:cNvSpPr/>
          <p:nvPr/>
        </p:nvSpPr>
        <p:spPr>
          <a:xfrm>
            <a:off x="8366760" y="5120640"/>
            <a:ext cx="2514240" cy="502560"/>
          </a:xfrm>
          <a:prstGeom prst="roundRect">
            <a:avLst>
              <a:gd name="adj" fmla="val 14545"/>
            </a:avLst>
          </a:prstGeom>
          <a:solidFill>
            <a:srgbClr val="fff5dc"/>
          </a:solidFill>
          <a:ln w="12700">
            <a:solidFill>
              <a:srgbClr val="fde6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 30"/>
          <p:cNvSpPr/>
          <p:nvPr/>
        </p:nvSpPr>
        <p:spPr>
          <a:xfrm>
            <a:off x="8549640" y="5285160"/>
            <a:ext cx="214848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580" strike="noStrike" u="none">
                <a:solidFill>
                  <a:srgbClr val="92400e"/>
                </a:solidFill>
                <a:effectLst/>
                <a:uFillTx/>
                <a:latin typeface="Aptos"/>
              </a:rPr>
              <a:t>4:44 is observed performance, not a guaranteed future runtime.</a:t>
            </a:r>
            <a:endParaRPr b="0" lang="en-US" sz="5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 31"/>
          <p:cNvSpPr/>
          <p:nvPr/>
        </p:nvSpPr>
        <p:spPr>
          <a:xfrm>
            <a:off x="411480" y="6546960"/>
            <a:ext cx="53031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580" strike="noStrike" u="none">
                <a:solidFill>
                  <a:srgbClr val="a0aec0"/>
                </a:solidFill>
                <a:effectLst/>
                <a:uFillTx/>
                <a:latin typeface="Aptos"/>
              </a:rPr>
              <a:t>FDP Command Adaptor SNS — CI/CD Optimisation</a:t>
            </a:r>
            <a:endParaRPr b="0" lang="en-US" sz="5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 32"/>
          <p:cNvSpPr/>
          <p:nvPr/>
        </p:nvSpPr>
        <p:spPr>
          <a:xfrm>
            <a:off x="11658600" y="6528960"/>
            <a:ext cx="2008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580" strike="noStrike" u="none">
                <a:solidFill>
                  <a:srgbClr val="a0aec0"/>
                </a:solidFill>
                <a:effectLst/>
                <a:uFillTx/>
                <a:latin typeface="Aptos"/>
              </a:rPr>
              <a:t>7</a:t>
            </a:r>
            <a:endParaRPr b="0" lang="en-US" sz="5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Shape 0"/>
          <p:cNvSpPr/>
          <p:nvPr/>
        </p:nvSpPr>
        <p:spPr>
          <a:xfrm>
            <a:off x="0" y="0"/>
            <a:ext cx="12191400" cy="5436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 1"/>
          <p:cNvSpPr/>
          <p:nvPr/>
        </p:nvSpPr>
        <p:spPr>
          <a:xfrm>
            <a:off x="411480" y="320040"/>
            <a:ext cx="98751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1b2838"/>
                </a:solidFill>
                <a:effectLst/>
                <a:uFillTx/>
                <a:latin typeface="Aptos"/>
              </a:rPr>
              <a:t>Component-level comparison: before vs after evidence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 2"/>
          <p:cNvSpPr/>
          <p:nvPr/>
        </p:nvSpPr>
        <p:spPr>
          <a:xfrm>
            <a:off x="411480" y="713160"/>
            <a:ext cx="9600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67085"/>
                </a:solidFill>
                <a:effectLst/>
                <a:uFillTx/>
                <a:latin typeface="Aptos"/>
              </a:rPr>
              <a:t>Comparable timed areas are shown side by side. Values are not additive and evidence boundaries differ.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 3"/>
          <p:cNvSpPr/>
          <p:nvPr/>
        </p:nvSpPr>
        <p:spPr>
          <a:xfrm>
            <a:off x="2788920" y="1005840"/>
            <a:ext cx="73116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00" strike="noStrike" u="none">
                <a:solidFill>
                  <a:srgbClr val="f4a000"/>
                </a:solidFill>
                <a:effectLst/>
                <a:uFillTx/>
                <a:latin typeface="Aptos"/>
              </a:rPr>
              <a:t>Before</a:t>
            </a:r>
            <a:endParaRPr b="0" lang="en-US" sz="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 4"/>
          <p:cNvSpPr/>
          <p:nvPr/>
        </p:nvSpPr>
        <p:spPr>
          <a:xfrm>
            <a:off x="6080760" y="1005840"/>
            <a:ext cx="73116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00" strike="noStrike" u="none">
                <a:solidFill>
                  <a:srgbClr val="00a6a6"/>
                </a:solidFill>
                <a:effectLst/>
                <a:uFillTx/>
                <a:latin typeface="Aptos"/>
              </a:rPr>
              <a:t>After</a:t>
            </a:r>
            <a:endParaRPr b="0" lang="en-US" sz="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 5"/>
          <p:cNvSpPr/>
          <p:nvPr/>
        </p:nvSpPr>
        <p:spPr>
          <a:xfrm>
            <a:off x="594360" y="1545480"/>
            <a:ext cx="19656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20" strike="noStrike" u="none">
                <a:solidFill>
                  <a:srgbClr val="1b2838"/>
                </a:solidFill>
                <a:effectLst/>
                <a:uFillTx/>
                <a:latin typeface="Aptos"/>
              </a:rPr>
              <a:t>Docker layer rebuild</a:t>
            </a:r>
            <a:endParaRPr b="0" lang="en-US" sz="7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 6"/>
          <p:cNvSpPr/>
          <p:nvPr/>
        </p:nvSpPr>
        <p:spPr>
          <a:xfrm>
            <a:off x="594360" y="1764720"/>
            <a:ext cx="196560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550" strike="noStrike" u="none">
                <a:solidFill>
                  <a:srgbClr val="667085"/>
                </a:solidFill>
                <a:effectLst/>
                <a:uFillTx/>
                <a:latin typeface="Aptos"/>
              </a:rPr>
              <a:t>controlled warm rebuild</a:t>
            </a:r>
            <a:endParaRPr b="0" lang="en-US" sz="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Shape 7"/>
          <p:cNvSpPr/>
          <p:nvPr/>
        </p:nvSpPr>
        <p:spPr>
          <a:xfrm>
            <a:off x="2788920" y="1472040"/>
            <a:ext cx="5279040" cy="200880"/>
          </a:xfrm>
          <a:prstGeom prst="rect">
            <a:avLst/>
          </a:prstGeom>
          <a:solidFill>
            <a:srgbClr val="f4a000"/>
          </a:solidFill>
          <a:ln w="12700">
            <a:solidFill>
              <a:srgbClr val="f4a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Shape 8"/>
          <p:cNvSpPr/>
          <p:nvPr/>
        </p:nvSpPr>
        <p:spPr>
          <a:xfrm>
            <a:off x="2788920" y="1764720"/>
            <a:ext cx="345240" cy="20088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 9"/>
          <p:cNvSpPr/>
          <p:nvPr/>
        </p:nvSpPr>
        <p:spPr>
          <a:xfrm>
            <a:off x="8141760" y="1490400"/>
            <a:ext cx="54828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10" strike="noStrike" u="none">
                <a:solidFill>
                  <a:srgbClr val="1b2838"/>
                </a:solidFill>
                <a:effectLst/>
                <a:uFillTx/>
                <a:latin typeface="Aptos"/>
              </a:rPr>
              <a:t>77.9s</a:t>
            </a:r>
            <a:endParaRPr b="0" lang="en-US" sz="6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 10"/>
          <p:cNvSpPr/>
          <p:nvPr/>
        </p:nvSpPr>
        <p:spPr>
          <a:xfrm>
            <a:off x="3207600" y="1783080"/>
            <a:ext cx="73116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10" strike="noStrike" u="none">
                <a:solidFill>
                  <a:srgbClr val="1b2838"/>
                </a:solidFill>
                <a:effectLst/>
                <a:uFillTx/>
                <a:latin typeface="Aptos"/>
              </a:rPr>
              <a:t>5.1s</a:t>
            </a:r>
            <a:endParaRPr b="0" lang="en-US" sz="6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 11"/>
          <p:cNvSpPr/>
          <p:nvPr/>
        </p:nvSpPr>
        <p:spPr>
          <a:xfrm>
            <a:off x="594360" y="2386440"/>
            <a:ext cx="19656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20" strike="noStrike" u="none">
                <a:solidFill>
                  <a:srgbClr val="1b2838"/>
                </a:solidFill>
                <a:effectLst/>
                <a:uFillTx/>
                <a:latin typeface="Aptos"/>
              </a:rPr>
              <a:t>Runtime validation</a:t>
            </a:r>
            <a:endParaRPr b="0" lang="en-US" sz="7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 12"/>
          <p:cNvSpPr/>
          <p:nvPr/>
        </p:nvSpPr>
        <p:spPr>
          <a:xfrm>
            <a:off x="594360" y="2606040"/>
            <a:ext cx="196560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550" strike="noStrike" u="none">
                <a:solidFill>
                  <a:srgbClr val="667085"/>
                </a:solidFill>
                <a:effectLst/>
                <a:uFillTx/>
                <a:latin typeface="Aptos"/>
              </a:rPr>
              <a:t>direct CI step</a:t>
            </a:r>
            <a:endParaRPr b="0" lang="en-US" sz="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Shape 13"/>
          <p:cNvSpPr/>
          <p:nvPr/>
        </p:nvSpPr>
        <p:spPr>
          <a:xfrm>
            <a:off x="2788920" y="2313360"/>
            <a:ext cx="4472640" cy="200880"/>
          </a:xfrm>
          <a:prstGeom prst="rect">
            <a:avLst/>
          </a:prstGeom>
          <a:solidFill>
            <a:srgbClr val="f4a000"/>
          </a:solidFill>
          <a:ln w="12700">
            <a:solidFill>
              <a:srgbClr val="f4a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Shape 14"/>
          <p:cNvSpPr/>
          <p:nvPr/>
        </p:nvSpPr>
        <p:spPr>
          <a:xfrm>
            <a:off x="2788920" y="2606040"/>
            <a:ext cx="2304000" cy="20088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 15"/>
          <p:cNvSpPr/>
          <p:nvPr/>
        </p:nvSpPr>
        <p:spPr>
          <a:xfrm>
            <a:off x="7335000" y="2331720"/>
            <a:ext cx="54828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10" strike="noStrike" u="none">
                <a:solidFill>
                  <a:srgbClr val="1b2838"/>
                </a:solidFill>
                <a:effectLst/>
                <a:uFillTx/>
                <a:latin typeface="Aptos"/>
              </a:rPr>
              <a:t>66s</a:t>
            </a:r>
            <a:endParaRPr b="0" lang="en-US" sz="6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 16"/>
          <p:cNvSpPr/>
          <p:nvPr/>
        </p:nvSpPr>
        <p:spPr>
          <a:xfrm>
            <a:off x="5166360" y="2624400"/>
            <a:ext cx="73116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10" strike="noStrike" u="none">
                <a:solidFill>
                  <a:srgbClr val="1b2838"/>
                </a:solidFill>
                <a:effectLst/>
                <a:uFillTx/>
                <a:latin typeface="Aptos"/>
              </a:rPr>
              <a:t>34s</a:t>
            </a:r>
            <a:endParaRPr b="0" lang="en-US" sz="6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 17"/>
          <p:cNvSpPr/>
          <p:nvPr/>
        </p:nvSpPr>
        <p:spPr>
          <a:xfrm>
            <a:off x="594360" y="3227760"/>
            <a:ext cx="19656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20" strike="noStrike" u="none">
                <a:solidFill>
                  <a:srgbClr val="1b2838"/>
                </a:solidFill>
                <a:effectLst/>
                <a:uFillTx/>
                <a:latin typeface="Aptos"/>
              </a:rPr>
              <a:t>Adaptor info</a:t>
            </a:r>
            <a:endParaRPr b="0" lang="en-US" sz="7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Text 18"/>
          <p:cNvSpPr/>
          <p:nvPr/>
        </p:nvSpPr>
        <p:spPr>
          <a:xfrm>
            <a:off x="594360" y="3447360"/>
            <a:ext cx="196560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550" strike="noStrike" u="none">
                <a:solidFill>
                  <a:srgbClr val="667085"/>
                </a:solidFill>
                <a:effectLst/>
                <a:uFillTx/>
                <a:latin typeface="Aptos"/>
              </a:rPr>
              <a:t>observed CI step</a:t>
            </a:r>
            <a:endParaRPr b="0" lang="en-US" sz="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Shape 19"/>
          <p:cNvSpPr/>
          <p:nvPr/>
        </p:nvSpPr>
        <p:spPr>
          <a:xfrm>
            <a:off x="2788920" y="3154680"/>
            <a:ext cx="1422720" cy="200880"/>
          </a:xfrm>
          <a:prstGeom prst="rect">
            <a:avLst/>
          </a:prstGeom>
          <a:solidFill>
            <a:srgbClr val="f4a000"/>
          </a:solidFill>
          <a:ln w="12700">
            <a:solidFill>
              <a:srgbClr val="f4a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Shape 20"/>
          <p:cNvSpPr/>
          <p:nvPr/>
        </p:nvSpPr>
        <p:spPr>
          <a:xfrm>
            <a:off x="2788920" y="3447360"/>
            <a:ext cx="745200" cy="20088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 21"/>
          <p:cNvSpPr/>
          <p:nvPr/>
        </p:nvSpPr>
        <p:spPr>
          <a:xfrm>
            <a:off x="4285440" y="3173040"/>
            <a:ext cx="54828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10" strike="noStrike" u="none">
                <a:solidFill>
                  <a:srgbClr val="1b2838"/>
                </a:solidFill>
                <a:effectLst/>
                <a:uFillTx/>
                <a:latin typeface="Aptos"/>
              </a:rPr>
              <a:t>21s</a:t>
            </a:r>
            <a:endParaRPr b="0" lang="en-US" sz="6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Text 22"/>
          <p:cNvSpPr/>
          <p:nvPr/>
        </p:nvSpPr>
        <p:spPr>
          <a:xfrm>
            <a:off x="3607560" y="3465720"/>
            <a:ext cx="73116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10" strike="noStrike" u="none">
                <a:solidFill>
                  <a:srgbClr val="1b2838"/>
                </a:solidFill>
                <a:effectLst/>
                <a:uFillTx/>
                <a:latin typeface="Aptos"/>
              </a:rPr>
              <a:t>11s</a:t>
            </a:r>
            <a:endParaRPr b="0" lang="en-US" sz="6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 23"/>
          <p:cNvSpPr/>
          <p:nvPr/>
        </p:nvSpPr>
        <p:spPr>
          <a:xfrm>
            <a:off x="594360" y="4069080"/>
            <a:ext cx="19656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20" strike="noStrike" u="none">
                <a:solidFill>
                  <a:srgbClr val="1b2838"/>
                </a:solidFill>
                <a:effectLst/>
                <a:uFillTx/>
                <a:latin typeface="Aptos"/>
              </a:rPr>
              <a:t>Final Trivy path</a:t>
            </a:r>
            <a:endParaRPr b="0" lang="en-US" sz="7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Text 24"/>
          <p:cNvSpPr/>
          <p:nvPr/>
        </p:nvSpPr>
        <p:spPr>
          <a:xfrm>
            <a:off x="594360" y="4288680"/>
            <a:ext cx="196560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550" strike="noStrike" u="none">
                <a:solidFill>
                  <a:srgbClr val="667085"/>
                </a:solidFill>
                <a:effectLst/>
                <a:uFillTx/>
                <a:latin typeface="Aptos"/>
              </a:rPr>
              <a:t>direct critical-path</a:t>
            </a:r>
            <a:endParaRPr b="0" lang="en-US" sz="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Shape 25"/>
          <p:cNvSpPr/>
          <p:nvPr/>
        </p:nvSpPr>
        <p:spPr>
          <a:xfrm>
            <a:off x="2788920" y="3996000"/>
            <a:ext cx="3320640" cy="200880"/>
          </a:xfrm>
          <a:prstGeom prst="rect">
            <a:avLst/>
          </a:prstGeom>
          <a:solidFill>
            <a:srgbClr val="f4a000"/>
          </a:solidFill>
          <a:ln w="12700">
            <a:solidFill>
              <a:srgbClr val="f4a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Shape 26"/>
          <p:cNvSpPr/>
          <p:nvPr/>
        </p:nvSpPr>
        <p:spPr>
          <a:xfrm>
            <a:off x="2788920" y="4288680"/>
            <a:ext cx="1016280" cy="20088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 27"/>
          <p:cNvSpPr/>
          <p:nvPr/>
        </p:nvSpPr>
        <p:spPr>
          <a:xfrm>
            <a:off x="6183000" y="4014360"/>
            <a:ext cx="54828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10" strike="noStrike" u="none">
                <a:solidFill>
                  <a:srgbClr val="1b2838"/>
                </a:solidFill>
                <a:effectLst/>
                <a:uFillTx/>
                <a:latin typeface="Aptos"/>
              </a:rPr>
              <a:t>49s</a:t>
            </a:r>
            <a:endParaRPr b="0" lang="en-US" sz="6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Text 28"/>
          <p:cNvSpPr/>
          <p:nvPr/>
        </p:nvSpPr>
        <p:spPr>
          <a:xfrm>
            <a:off x="3878640" y="4306680"/>
            <a:ext cx="73116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10" strike="noStrike" u="none">
                <a:solidFill>
                  <a:srgbClr val="1b2838"/>
                </a:solidFill>
                <a:effectLst/>
                <a:uFillTx/>
                <a:latin typeface="Aptos"/>
              </a:rPr>
              <a:t>15s</a:t>
            </a:r>
            <a:endParaRPr b="0" lang="en-US" sz="6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Text 29"/>
          <p:cNvSpPr/>
          <p:nvPr/>
        </p:nvSpPr>
        <p:spPr>
          <a:xfrm>
            <a:off x="594360" y="4910400"/>
            <a:ext cx="19656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20" strike="noStrike" u="none">
                <a:solidFill>
                  <a:srgbClr val="1b2838"/>
                </a:solidFill>
                <a:effectLst/>
                <a:uFillTx/>
                <a:latin typeface="Aptos"/>
              </a:rPr>
              <a:t>Kafka Streams tail</a:t>
            </a:r>
            <a:endParaRPr b="0" lang="en-US" sz="7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Text 30"/>
          <p:cNvSpPr/>
          <p:nvPr/>
        </p:nvSpPr>
        <p:spPr>
          <a:xfrm>
            <a:off x="594360" y="5129640"/>
            <a:ext cx="196560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550" strike="noStrike" u="none">
                <a:solidFill>
                  <a:srgbClr val="667085"/>
                </a:solidFill>
                <a:effectLst/>
                <a:uFillTx/>
                <a:latin typeface="Aptos"/>
              </a:rPr>
              <a:t>tail no longer observed</a:t>
            </a:r>
            <a:endParaRPr b="0" lang="en-US" sz="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Shape 31"/>
          <p:cNvSpPr/>
          <p:nvPr/>
        </p:nvSpPr>
        <p:spPr>
          <a:xfrm>
            <a:off x="2788920" y="4837320"/>
            <a:ext cx="2032920" cy="200880"/>
          </a:xfrm>
          <a:prstGeom prst="rect">
            <a:avLst/>
          </a:prstGeom>
          <a:solidFill>
            <a:srgbClr val="f4a000"/>
          </a:solidFill>
          <a:ln w="12700">
            <a:solidFill>
              <a:srgbClr val="f4a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Shape 32"/>
          <p:cNvSpPr/>
          <p:nvPr/>
        </p:nvSpPr>
        <p:spPr>
          <a:xfrm>
            <a:off x="2788920" y="5129640"/>
            <a:ext cx="27000" cy="20088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1" name="Text 33"/>
          <p:cNvSpPr/>
          <p:nvPr/>
        </p:nvSpPr>
        <p:spPr>
          <a:xfrm>
            <a:off x="4895280" y="4855320"/>
            <a:ext cx="54828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10" strike="noStrike" u="none">
                <a:solidFill>
                  <a:srgbClr val="1b2838"/>
                </a:solidFill>
                <a:effectLst/>
                <a:uFillTx/>
                <a:latin typeface="Aptos"/>
              </a:rPr>
              <a:t>30s</a:t>
            </a:r>
            <a:endParaRPr b="0" lang="en-US" sz="6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Text 34"/>
          <p:cNvSpPr/>
          <p:nvPr/>
        </p:nvSpPr>
        <p:spPr>
          <a:xfrm>
            <a:off x="2862000" y="5148000"/>
            <a:ext cx="73116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10" strike="noStrike" u="none">
                <a:solidFill>
                  <a:srgbClr val="1b2838"/>
                </a:solidFill>
                <a:effectLst/>
                <a:uFillTx/>
                <a:latin typeface="Aptos"/>
              </a:rPr>
              <a:t>not observed</a:t>
            </a:r>
            <a:endParaRPr b="0" lang="en-US" sz="6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Shape 35"/>
          <p:cNvSpPr/>
          <p:nvPr/>
        </p:nvSpPr>
        <p:spPr>
          <a:xfrm>
            <a:off x="9144000" y="1234440"/>
            <a:ext cx="2331360" cy="141696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7ecf3"/>
            </a:solidFill>
            <a:round/>
          </a:ln>
          <a:effectLst>
            <a:outerShdw algn="bl" blurRad="19080" dir="2700000" dist="9673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 36"/>
          <p:cNvSpPr/>
          <p:nvPr/>
        </p:nvSpPr>
        <p:spPr>
          <a:xfrm>
            <a:off x="9372600" y="1463040"/>
            <a:ext cx="18284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trike="noStrike" u="none">
                <a:solidFill>
                  <a:srgbClr val="1b2838"/>
                </a:solidFill>
                <a:effectLst/>
                <a:uFillTx/>
                <a:latin typeface="Aptos"/>
              </a:rPr>
              <a:t>How to read this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Shape 37"/>
          <p:cNvSpPr/>
          <p:nvPr/>
        </p:nvSpPr>
        <p:spPr>
          <a:xfrm>
            <a:off x="9372600" y="1815120"/>
            <a:ext cx="91080" cy="91080"/>
          </a:xfrm>
          <a:prstGeom prst="ellipse">
            <a:avLst/>
          </a:prstGeom>
          <a:solidFill>
            <a:srgbClr val="e95545"/>
          </a:solidFill>
          <a:ln w="12700">
            <a:solidFill>
              <a:srgbClr val="e955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 38"/>
          <p:cNvSpPr/>
          <p:nvPr/>
        </p:nvSpPr>
        <p:spPr>
          <a:xfrm>
            <a:off x="9537120" y="1783080"/>
            <a:ext cx="17370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1b2838"/>
                </a:solidFill>
                <a:effectLst/>
                <a:uFillTx/>
                <a:latin typeface="Aptos"/>
              </a:rPr>
              <a:t>Do not add rows together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Shape 39"/>
          <p:cNvSpPr/>
          <p:nvPr/>
        </p:nvSpPr>
        <p:spPr>
          <a:xfrm>
            <a:off x="9372600" y="2089440"/>
            <a:ext cx="91080" cy="91080"/>
          </a:xfrm>
          <a:prstGeom prst="ellipse">
            <a:avLst/>
          </a:prstGeom>
          <a:solidFill>
            <a:srgbClr val="e95545"/>
          </a:solidFill>
          <a:ln w="12700">
            <a:solidFill>
              <a:srgbClr val="e955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 40"/>
          <p:cNvSpPr/>
          <p:nvPr/>
        </p:nvSpPr>
        <p:spPr>
          <a:xfrm>
            <a:off x="9537120" y="2057400"/>
            <a:ext cx="18284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1b2838"/>
                </a:solidFill>
                <a:effectLst/>
                <a:uFillTx/>
                <a:latin typeface="Aptos"/>
              </a:rPr>
              <a:t>Some are controlled Docker measurements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Shape 41"/>
          <p:cNvSpPr/>
          <p:nvPr/>
        </p:nvSpPr>
        <p:spPr>
          <a:xfrm>
            <a:off x="9372600" y="2363760"/>
            <a:ext cx="91080" cy="91080"/>
          </a:xfrm>
          <a:prstGeom prst="ellipse">
            <a:avLst/>
          </a:prstGeom>
          <a:solidFill>
            <a:srgbClr val="e95545"/>
          </a:solidFill>
          <a:ln w="12700">
            <a:solidFill>
              <a:srgbClr val="e955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0" name="Text 42"/>
          <p:cNvSpPr/>
          <p:nvPr/>
        </p:nvSpPr>
        <p:spPr>
          <a:xfrm>
            <a:off x="9537120" y="2331720"/>
            <a:ext cx="18284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1b2838"/>
                </a:solidFill>
                <a:effectLst/>
                <a:uFillTx/>
                <a:latin typeface="Aptos"/>
              </a:rPr>
              <a:t>Some are direct CI measurements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Shape 43"/>
          <p:cNvSpPr/>
          <p:nvPr/>
        </p:nvSpPr>
        <p:spPr>
          <a:xfrm>
            <a:off x="9144000" y="2971800"/>
            <a:ext cx="2331360" cy="1462680"/>
          </a:xfrm>
          <a:prstGeom prst="roundRect">
            <a:avLst>
              <a:gd name="adj" fmla="val 5000"/>
            </a:avLst>
          </a:prstGeom>
          <a:solidFill>
            <a:srgbClr val="eaf8ef"/>
          </a:solidFill>
          <a:ln w="12700">
            <a:solidFill>
              <a:srgbClr val="bbf7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Text 44"/>
          <p:cNvSpPr/>
          <p:nvPr/>
        </p:nvSpPr>
        <p:spPr>
          <a:xfrm>
            <a:off x="9372600" y="3182040"/>
            <a:ext cx="18284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trike="noStrike" u="none">
                <a:solidFill>
                  <a:srgbClr val="1b2838"/>
                </a:solidFill>
                <a:effectLst/>
                <a:uFillTx/>
                <a:latin typeface="Aptos"/>
              </a:rPr>
              <a:t>Structural changes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 45"/>
          <p:cNvSpPr/>
          <p:nvPr/>
        </p:nvSpPr>
        <p:spPr>
          <a:xfrm>
            <a:off x="9372600" y="3520440"/>
            <a:ext cx="18741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40" strike="noStrike" u="none">
                <a:solidFill>
                  <a:srgbClr val="1b2838"/>
                </a:solidFill>
                <a:effectLst/>
                <a:uFillTx/>
                <a:latin typeface="Aptos"/>
              </a:rPr>
              <a:t>Testcontainers migration, aggregate concurrency and false-green protections are critical, but no isolated timing is claimed.</a:t>
            </a:r>
            <a:endParaRPr b="0" lang="en-US" sz="6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Text 46"/>
          <p:cNvSpPr/>
          <p:nvPr/>
        </p:nvSpPr>
        <p:spPr>
          <a:xfrm>
            <a:off x="411480" y="6546960"/>
            <a:ext cx="53031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580" strike="noStrike" u="none">
                <a:solidFill>
                  <a:srgbClr val="a0aec0"/>
                </a:solidFill>
                <a:effectLst/>
                <a:uFillTx/>
                <a:latin typeface="Aptos"/>
              </a:rPr>
              <a:t>FDP Command Adaptor SNS — CI/CD Optimisation</a:t>
            </a:r>
            <a:endParaRPr b="0" lang="en-US" sz="5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Text 47"/>
          <p:cNvSpPr/>
          <p:nvPr/>
        </p:nvSpPr>
        <p:spPr>
          <a:xfrm>
            <a:off x="11658600" y="6528960"/>
            <a:ext cx="2008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580" strike="noStrike" u="none">
                <a:solidFill>
                  <a:srgbClr val="a0aec0"/>
                </a:solidFill>
                <a:effectLst/>
                <a:uFillTx/>
                <a:latin typeface="Aptos"/>
              </a:rPr>
              <a:t>8</a:t>
            </a:r>
            <a:endParaRPr b="0" lang="en-US" sz="5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Shape 0"/>
          <p:cNvSpPr/>
          <p:nvPr/>
        </p:nvSpPr>
        <p:spPr>
          <a:xfrm>
            <a:off x="0" y="0"/>
            <a:ext cx="12191400" cy="5436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7" name="Text 1"/>
          <p:cNvSpPr/>
          <p:nvPr/>
        </p:nvSpPr>
        <p:spPr>
          <a:xfrm>
            <a:off x="411480" y="320040"/>
            <a:ext cx="98751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1b2838"/>
                </a:solidFill>
                <a:effectLst/>
                <a:uFillTx/>
                <a:latin typeface="Aptos"/>
              </a:rPr>
              <a:t>What we deliberately preserved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Text 2"/>
          <p:cNvSpPr/>
          <p:nvPr/>
        </p:nvSpPr>
        <p:spPr>
          <a:xfrm>
            <a:off x="411480" y="713160"/>
            <a:ext cx="9600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67085"/>
                </a:solidFill>
                <a:effectLst/>
                <a:uFillTx/>
                <a:latin typeface="Aptos"/>
              </a:rPr>
              <a:t>The faster path must not reduce the validation surface.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Shape 3"/>
          <p:cNvSpPr/>
          <p:nvPr/>
        </p:nvSpPr>
        <p:spPr>
          <a:xfrm>
            <a:off x="914400" y="1143000"/>
            <a:ext cx="3474360" cy="38401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7ecf3"/>
            </a:solidFill>
            <a:round/>
          </a:ln>
          <a:effectLst>
            <a:outerShdw algn="bl" blurRad="19080" dir="2700000" dist="9673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Text 4"/>
          <p:cNvSpPr/>
          <p:nvPr/>
        </p:nvSpPr>
        <p:spPr>
          <a:xfrm>
            <a:off x="1188720" y="1417320"/>
            <a:ext cx="255996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1b2838"/>
                </a:solidFill>
                <a:effectLst/>
                <a:uFillTx/>
                <a:latin typeface="Aptos"/>
              </a:rPr>
              <a:t>Validation retained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Shape 5"/>
          <p:cNvSpPr/>
          <p:nvPr/>
        </p:nvSpPr>
        <p:spPr>
          <a:xfrm>
            <a:off x="1261800" y="1952280"/>
            <a:ext cx="91080" cy="91080"/>
          </a:xfrm>
          <a:prstGeom prst="ellipse">
            <a:avLst/>
          </a:prstGeom>
          <a:solidFill>
            <a:srgbClr val="18a957"/>
          </a:solidFill>
          <a:ln w="12700">
            <a:solidFill>
              <a:srgbClr val="18a95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2" name="Text 6"/>
          <p:cNvSpPr/>
          <p:nvPr/>
        </p:nvSpPr>
        <p:spPr>
          <a:xfrm>
            <a:off x="1426320" y="1920240"/>
            <a:ext cx="25599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1b2838"/>
                </a:solidFill>
                <a:effectLst/>
                <a:uFillTx/>
                <a:latin typeface="Aptos"/>
              </a:rPr>
              <a:t>14 business scenarios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Shape 7"/>
          <p:cNvSpPr/>
          <p:nvPr/>
        </p:nvSpPr>
        <p:spPr>
          <a:xfrm>
            <a:off x="1261800" y="2336400"/>
            <a:ext cx="91080" cy="91080"/>
          </a:xfrm>
          <a:prstGeom prst="ellipse">
            <a:avLst/>
          </a:prstGeom>
          <a:solidFill>
            <a:srgbClr val="18a957"/>
          </a:solidFill>
          <a:ln w="12700">
            <a:solidFill>
              <a:srgbClr val="18a95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4" name="Text 8"/>
          <p:cNvSpPr/>
          <p:nvPr/>
        </p:nvSpPr>
        <p:spPr>
          <a:xfrm>
            <a:off x="1426320" y="2304360"/>
            <a:ext cx="25599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1b2838"/>
                </a:solidFill>
                <a:effectLst/>
                <a:uFillTx/>
                <a:latin typeface="Aptos"/>
              </a:rPr>
              <a:t>Minimum feature/scenario guardrails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Shape 9"/>
          <p:cNvSpPr/>
          <p:nvPr/>
        </p:nvSpPr>
        <p:spPr>
          <a:xfrm>
            <a:off x="1261800" y="2720520"/>
            <a:ext cx="91080" cy="91080"/>
          </a:xfrm>
          <a:prstGeom prst="ellipse">
            <a:avLst/>
          </a:prstGeom>
          <a:solidFill>
            <a:srgbClr val="18a957"/>
          </a:solidFill>
          <a:ln w="12700">
            <a:solidFill>
              <a:srgbClr val="18a95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6" name="Text 10"/>
          <p:cNvSpPr/>
          <p:nvPr/>
        </p:nvSpPr>
        <p:spPr>
          <a:xfrm>
            <a:off x="1426320" y="2688480"/>
            <a:ext cx="25599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1b2838"/>
                </a:solidFill>
                <a:effectLst/>
                <a:uFillTx/>
                <a:latin typeface="Aptos"/>
              </a:rPr>
              <a:t>Docker-required CI behaviour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Shape 11"/>
          <p:cNvSpPr/>
          <p:nvPr/>
        </p:nvSpPr>
        <p:spPr>
          <a:xfrm>
            <a:off x="1261800" y="3104280"/>
            <a:ext cx="91080" cy="91080"/>
          </a:xfrm>
          <a:prstGeom prst="ellipse">
            <a:avLst/>
          </a:prstGeom>
          <a:solidFill>
            <a:srgbClr val="18a957"/>
          </a:solidFill>
          <a:ln w="12700">
            <a:solidFill>
              <a:srgbClr val="18a95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8" name="Text 12"/>
          <p:cNvSpPr/>
          <p:nvPr/>
        </p:nvSpPr>
        <p:spPr>
          <a:xfrm>
            <a:off x="1426320" y="3072240"/>
            <a:ext cx="25599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1b2838"/>
                </a:solidFill>
                <a:effectLst/>
                <a:uFillTx/>
                <a:latin typeface="Aptos"/>
              </a:rPr>
              <a:t>Exact built-image validation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Shape 13"/>
          <p:cNvSpPr/>
          <p:nvPr/>
        </p:nvSpPr>
        <p:spPr>
          <a:xfrm>
            <a:off x="1261800" y="3488400"/>
            <a:ext cx="91080" cy="91080"/>
          </a:xfrm>
          <a:prstGeom prst="ellipse">
            <a:avLst/>
          </a:prstGeom>
          <a:solidFill>
            <a:srgbClr val="18a957"/>
          </a:solidFill>
          <a:ln w="12700">
            <a:solidFill>
              <a:srgbClr val="18a95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0" name="Text 14"/>
          <p:cNvSpPr/>
          <p:nvPr/>
        </p:nvSpPr>
        <p:spPr>
          <a:xfrm>
            <a:off x="1426320" y="3456360"/>
            <a:ext cx="25599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1b2838"/>
                </a:solidFill>
                <a:effectLst/>
                <a:uFillTx/>
                <a:latin typeface="Aptos"/>
              </a:rPr>
              <a:t>Trivy scanning/reporting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Shape 15"/>
          <p:cNvSpPr/>
          <p:nvPr/>
        </p:nvSpPr>
        <p:spPr>
          <a:xfrm>
            <a:off x="5669280" y="1143000"/>
            <a:ext cx="4205880" cy="3840120"/>
          </a:xfrm>
          <a:prstGeom prst="roundRect">
            <a:avLst>
              <a:gd name="adj" fmla="val 1905"/>
            </a:avLst>
          </a:prstGeom>
          <a:solidFill>
            <a:srgbClr val="eaf8ef"/>
          </a:solidFill>
          <a:ln w="12700">
            <a:solidFill>
              <a:srgbClr val="bbf7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Text 16"/>
          <p:cNvSpPr/>
          <p:nvPr/>
        </p:nvSpPr>
        <p:spPr>
          <a:xfrm>
            <a:off x="5989320" y="1463040"/>
            <a:ext cx="228564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1b2838"/>
                </a:solidFill>
                <a:effectLst/>
                <a:uFillTx/>
                <a:latin typeface="Aptos"/>
              </a:rPr>
              <a:t>Guardrail principle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Text 17"/>
          <p:cNvSpPr/>
          <p:nvPr/>
        </p:nvSpPr>
        <p:spPr>
          <a:xfrm>
            <a:off x="5989320" y="2057400"/>
            <a:ext cx="320004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18a957"/>
                </a:solidFill>
                <a:effectLst/>
                <a:uFillTx/>
                <a:latin typeface="Aptos"/>
              </a:rPr>
              <a:t>Faster CI is not an improvement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18a957"/>
                </a:solidFill>
                <a:effectLst/>
                <a:uFillTx/>
                <a:latin typeface="Aptos"/>
              </a:rPr>
              <a:t>if fewer validations execute.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Text 18"/>
          <p:cNvSpPr/>
          <p:nvPr/>
        </p:nvSpPr>
        <p:spPr>
          <a:xfrm>
            <a:off x="5989320" y="3063240"/>
            <a:ext cx="32000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20" strike="noStrike" u="none">
                <a:solidFill>
                  <a:srgbClr val="1b2838"/>
                </a:solidFill>
                <a:effectLst/>
                <a:uFillTx/>
                <a:latin typeface="Aptos"/>
              </a:rPr>
              <a:t>The optimisation is credible because scenario execution, exact image runtime checks and security scanning/reporting remain part of the pipeline.</a:t>
            </a:r>
            <a:endParaRPr b="0" lang="en-US" sz="7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Text 19"/>
          <p:cNvSpPr/>
          <p:nvPr/>
        </p:nvSpPr>
        <p:spPr>
          <a:xfrm>
            <a:off x="411480" y="6546960"/>
            <a:ext cx="53031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580" strike="noStrike" u="none">
                <a:solidFill>
                  <a:srgbClr val="a0aec0"/>
                </a:solidFill>
                <a:effectLst/>
                <a:uFillTx/>
                <a:latin typeface="Aptos"/>
              </a:rPr>
              <a:t>FDP Command Adaptor SNS — CI/CD Optimisation</a:t>
            </a:r>
            <a:endParaRPr b="0" lang="en-US" sz="5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Text 20"/>
          <p:cNvSpPr/>
          <p:nvPr/>
        </p:nvSpPr>
        <p:spPr>
          <a:xfrm>
            <a:off x="11658600" y="6528960"/>
            <a:ext cx="2008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580" strike="noStrike" u="none">
                <a:solidFill>
                  <a:srgbClr val="a0aec0"/>
                </a:solidFill>
                <a:effectLst/>
                <a:uFillTx/>
                <a:latin typeface="Aptos"/>
              </a:rPr>
              <a:t>9</a:t>
            </a:r>
            <a:endParaRPr b="0" lang="en-US" sz="5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Shape 0"/>
          <p:cNvSpPr/>
          <p:nvPr/>
        </p:nvSpPr>
        <p:spPr>
          <a:xfrm>
            <a:off x="0" y="0"/>
            <a:ext cx="12191400" cy="5436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8" name="Text 1"/>
          <p:cNvSpPr/>
          <p:nvPr/>
        </p:nvSpPr>
        <p:spPr>
          <a:xfrm>
            <a:off x="411480" y="320040"/>
            <a:ext cx="98751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1b2838"/>
                </a:solidFill>
                <a:effectLst/>
                <a:uFillTx/>
                <a:latin typeface="Aptos"/>
              </a:rPr>
              <a:t>What we chose not to keep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Text 2"/>
          <p:cNvSpPr/>
          <p:nvPr/>
        </p:nvSpPr>
        <p:spPr>
          <a:xfrm>
            <a:off x="411480" y="713160"/>
            <a:ext cx="9600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67085"/>
                </a:solidFill>
                <a:effectLst/>
                <a:uFillTx/>
                <a:latin typeface="Aptos"/>
              </a:rPr>
              <a:t>Rejected experiments reduced complexity and strengthened the final design.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Shape 3"/>
          <p:cNvSpPr/>
          <p:nvPr/>
        </p:nvSpPr>
        <p:spPr>
          <a:xfrm>
            <a:off x="685800" y="1143000"/>
            <a:ext cx="10835280" cy="347040"/>
          </a:xfrm>
          <a:prstGeom prst="rect">
            <a:avLst/>
          </a:prstGeom>
          <a:solidFill>
            <a:srgbClr val="071d2b"/>
          </a:solidFill>
          <a:ln w="12700">
            <a:solidFill>
              <a:srgbClr val="071d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1" name="Text 4"/>
          <p:cNvSpPr/>
          <p:nvPr/>
        </p:nvSpPr>
        <p:spPr>
          <a:xfrm>
            <a:off x="868680" y="1261800"/>
            <a:ext cx="2285640" cy="10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5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Experiment</a:t>
            </a:r>
            <a:endParaRPr b="0" lang="en-US" sz="6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Text 5"/>
          <p:cNvSpPr/>
          <p:nvPr/>
        </p:nvSpPr>
        <p:spPr>
          <a:xfrm>
            <a:off x="3657600" y="1261800"/>
            <a:ext cx="3200040" cy="10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5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Observation</a:t>
            </a:r>
            <a:endParaRPr b="0" lang="en-US" sz="6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Text 6"/>
          <p:cNvSpPr/>
          <p:nvPr/>
        </p:nvSpPr>
        <p:spPr>
          <a:xfrm>
            <a:off x="9738360" y="1261800"/>
            <a:ext cx="1279800" cy="10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5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Decision</a:t>
            </a:r>
            <a:endParaRPr b="0" lang="en-US" sz="6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Shape 7"/>
          <p:cNvSpPr/>
          <p:nvPr/>
        </p:nvSpPr>
        <p:spPr>
          <a:xfrm>
            <a:off x="685800" y="1490400"/>
            <a:ext cx="10835280" cy="548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c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Text 8"/>
          <p:cNvSpPr/>
          <p:nvPr/>
        </p:nvSpPr>
        <p:spPr>
          <a:xfrm>
            <a:off x="868680" y="1682640"/>
            <a:ext cx="228564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60" strike="noStrike" u="none">
                <a:solidFill>
                  <a:srgbClr val="1b2838"/>
                </a:solidFill>
                <a:effectLst/>
                <a:uFillTx/>
                <a:latin typeface="Aptos"/>
              </a:rPr>
              <a:t>Maven parallel build</a:t>
            </a:r>
            <a:endParaRPr b="0" lang="en-US" sz="6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Text 9"/>
          <p:cNvSpPr/>
          <p:nvPr/>
        </p:nvSpPr>
        <p:spPr>
          <a:xfrm>
            <a:off x="3657600" y="1682640"/>
            <a:ext cx="438876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50" strike="noStrike" u="none">
                <a:solidFill>
                  <a:srgbClr val="667085"/>
                </a:solidFill>
                <a:effectLst/>
                <a:uFillTx/>
                <a:latin typeface="Aptos"/>
              </a:rPr>
              <a:t>No reproducible overall benefit</a:t>
            </a:r>
            <a:endParaRPr b="0" lang="en-US" sz="6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Text 10"/>
          <p:cNvSpPr/>
          <p:nvPr/>
        </p:nvSpPr>
        <p:spPr>
          <a:xfrm>
            <a:off x="9646920" y="1682640"/>
            <a:ext cx="137124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20" strike="noStrike" u="none">
                <a:solidFill>
                  <a:srgbClr val="e95545"/>
                </a:solidFill>
                <a:effectLst/>
                <a:uFillTx/>
                <a:latin typeface="Aptos"/>
              </a:rPr>
              <a:t>Not retained</a:t>
            </a:r>
            <a:endParaRPr b="0" lang="en-US" sz="6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Shape 11"/>
          <p:cNvSpPr/>
          <p:nvPr/>
        </p:nvSpPr>
        <p:spPr>
          <a:xfrm>
            <a:off x="685800" y="2176200"/>
            <a:ext cx="10835280" cy="548280"/>
          </a:xfrm>
          <a:prstGeom prst="rect">
            <a:avLst/>
          </a:prstGeom>
          <a:solidFill>
            <a:srgbClr val="f1f5f9"/>
          </a:solidFill>
          <a:ln w="12700">
            <a:solidFill>
              <a:srgbClr val="e7ec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Text 12"/>
          <p:cNvSpPr/>
          <p:nvPr/>
        </p:nvSpPr>
        <p:spPr>
          <a:xfrm>
            <a:off x="868680" y="2368440"/>
            <a:ext cx="228564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60" strike="noStrike" u="none">
                <a:solidFill>
                  <a:srgbClr val="1b2838"/>
                </a:solidFill>
                <a:effectLst/>
                <a:uFillTx/>
                <a:latin typeface="Aptos"/>
              </a:rPr>
              <a:t>Background image prefetch</a:t>
            </a:r>
            <a:endParaRPr b="0" lang="en-US" sz="6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Text 13"/>
          <p:cNvSpPr/>
          <p:nvPr/>
        </p:nvSpPr>
        <p:spPr>
          <a:xfrm>
            <a:off x="3657600" y="2368440"/>
            <a:ext cx="438876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50" strike="noStrike" u="none">
                <a:solidFill>
                  <a:srgbClr val="667085"/>
                </a:solidFill>
                <a:effectLst/>
                <a:uFillTx/>
                <a:latin typeface="Aptos"/>
              </a:rPr>
              <a:t>Slower results and no consistent benefit</a:t>
            </a:r>
            <a:endParaRPr b="0" lang="en-US" sz="6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Text 14"/>
          <p:cNvSpPr/>
          <p:nvPr/>
        </p:nvSpPr>
        <p:spPr>
          <a:xfrm>
            <a:off x="9646920" y="2368440"/>
            <a:ext cx="137124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20" strike="noStrike" u="none">
                <a:solidFill>
                  <a:srgbClr val="e95545"/>
                </a:solidFill>
                <a:effectLst/>
                <a:uFillTx/>
                <a:latin typeface="Aptos"/>
              </a:rPr>
              <a:t>Not retained</a:t>
            </a:r>
            <a:endParaRPr b="0" lang="en-US" sz="6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Shape 15"/>
          <p:cNvSpPr/>
          <p:nvPr/>
        </p:nvSpPr>
        <p:spPr>
          <a:xfrm>
            <a:off x="685800" y="2862000"/>
            <a:ext cx="10835280" cy="548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c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Text 16"/>
          <p:cNvSpPr/>
          <p:nvPr/>
        </p:nvSpPr>
        <p:spPr>
          <a:xfrm>
            <a:off x="868680" y="3054240"/>
            <a:ext cx="228564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60" strike="noStrike" u="none">
                <a:solidFill>
                  <a:srgbClr val="1b2838"/>
                </a:solidFill>
                <a:effectLst/>
                <a:uFillTx/>
                <a:latin typeface="Aptos"/>
              </a:rPr>
              <a:t>Logging reduction for performance</a:t>
            </a:r>
            <a:endParaRPr b="0" lang="en-US" sz="6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Text 17"/>
          <p:cNvSpPr/>
          <p:nvPr/>
        </p:nvSpPr>
        <p:spPr>
          <a:xfrm>
            <a:off x="3657600" y="3054240"/>
            <a:ext cx="438876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50" strike="noStrike" u="none">
                <a:solidFill>
                  <a:srgbClr val="667085"/>
                </a:solidFill>
                <a:effectLst/>
                <a:uFillTx/>
                <a:latin typeface="Aptos"/>
              </a:rPr>
              <a:t>No reproducible performance gain</a:t>
            </a:r>
            <a:endParaRPr b="0" lang="en-US" sz="6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Text 18"/>
          <p:cNvSpPr/>
          <p:nvPr/>
        </p:nvSpPr>
        <p:spPr>
          <a:xfrm>
            <a:off x="9646920" y="3054240"/>
            <a:ext cx="137124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20" strike="noStrike" u="none">
                <a:solidFill>
                  <a:srgbClr val="e95545"/>
                </a:solidFill>
                <a:effectLst/>
                <a:uFillTx/>
                <a:latin typeface="Aptos"/>
              </a:rPr>
              <a:t>Not retained</a:t>
            </a:r>
            <a:endParaRPr b="0" lang="en-US" sz="6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Shape 19"/>
          <p:cNvSpPr/>
          <p:nvPr/>
        </p:nvSpPr>
        <p:spPr>
          <a:xfrm>
            <a:off x="685800" y="3547800"/>
            <a:ext cx="10835280" cy="548280"/>
          </a:xfrm>
          <a:prstGeom prst="rect">
            <a:avLst/>
          </a:prstGeom>
          <a:solidFill>
            <a:srgbClr val="f1f5f9"/>
          </a:solidFill>
          <a:ln w="12700">
            <a:solidFill>
              <a:srgbClr val="e7ec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Text 20"/>
          <p:cNvSpPr/>
          <p:nvPr/>
        </p:nvSpPr>
        <p:spPr>
          <a:xfrm>
            <a:off x="868680" y="3740040"/>
            <a:ext cx="228564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60" strike="noStrike" u="none">
                <a:solidFill>
                  <a:srgbClr val="1b2838"/>
                </a:solidFill>
                <a:effectLst/>
                <a:uFillTx/>
                <a:latin typeface="Aptos"/>
              </a:rPr>
              <a:t>Readiness-result caching</a:t>
            </a:r>
            <a:endParaRPr b="0" lang="en-US" sz="6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Text 21"/>
          <p:cNvSpPr/>
          <p:nvPr/>
        </p:nvSpPr>
        <p:spPr>
          <a:xfrm>
            <a:off x="3657600" y="3740040"/>
            <a:ext cx="438876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50" strike="noStrike" u="none">
                <a:solidFill>
                  <a:srgbClr val="667085"/>
                </a:solidFill>
                <a:effectLst/>
                <a:uFillTx/>
                <a:latin typeface="Aptos"/>
              </a:rPr>
              <a:t>Changed validation semantics</a:t>
            </a:r>
            <a:endParaRPr b="0" lang="en-US" sz="6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Text 22"/>
          <p:cNvSpPr/>
          <p:nvPr/>
        </p:nvSpPr>
        <p:spPr>
          <a:xfrm>
            <a:off x="9646920" y="3740040"/>
            <a:ext cx="137124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20" strike="noStrike" u="none">
                <a:solidFill>
                  <a:srgbClr val="e95545"/>
                </a:solidFill>
                <a:effectLst/>
                <a:uFillTx/>
                <a:latin typeface="Aptos"/>
              </a:rPr>
              <a:t>Not retained</a:t>
            </a:r>
            <a:endParaRPr b="0" lang="en-US" sz="6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Shape 23"/>
          <p:cNvSpPr/>
          <p:nvPr/>
        </p:nvSpPr>
        <p:spPr>
          <a:xfrm>
            <a:off x="2468880" y="5120640"/>
            <a:ext cx="7131960" cy="502560"/>
          </a:xfrm>
          <a:prstGeom prst="roundRect">
            <a:avLst>
              <a:gd name="adj" fmla="val 14545"/>
            </a:avLst>
          </a:prstGeom>
          <a:solidFill>
            <a:srgbClr val="eaf8ef"/>
          </a:solidFill>
          <a:ln w="12700">
            <a:solidFill>
              <a:srgbClr val="bbf7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Text 24"/>
          <p:cNvSpPr/>
          <p:nvPr/>
        </p:nvSpPr>
        <p:spPr>
          <a:xfrm>
            <a:off x="2743200" y="5285160"/>
            <a:ext cx="91404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40" strike="noStrike" u="none">
                <a:solidFill>
                  <a:srgbClr val="18a957"/>
                </a:solidFill>
                <a:effectLst/>
                <a:uFillTx/>
                <a:latin typeface="Aptos"/>
              </a:rPr>
              <a:t>Learning</a:t>
            </a:r>
            <a:endParaRPr b="0" lang="en-US" sz="6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Text 25"/>
          <p:cNvSpPr/>
          <p:nvPr/>
        </p:nvSpPr>
        <p:spPr>
          <a:xfrm>
            <a:off x="3657600" y="5285160"/>
            <a:ext cx="521172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40" strike="noStrike" u="none">
                <a:solidFill>
                  <a:srgbClr val="1b2838"/>
                </a:solidFill>
                <a:effectLst/>
                <a:uFillTx/>
                <a:latin typeface="Aptos"/>
              </a:rPr>
              <a:t>Evidence prevented unnecessary complexity and protected correctness.</a:t>
            </a:r>
            <a:endParaRPr b="0" lang="en-US" sz="6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Text 26"/>
          <p:cNvSpPr/>
          <p:nvPr/>
        </p:nvSpPr>
        <p:spPr>
          <a:xfrm>
            <a:off x="411480" y="6546960"/>
            <a:ext cx="53031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580" strike="noStrike" u="none">
                <a:solidFill>
                  <a:srgbClr val="a0aec0"/>
                </a:solidFill>
                <a:effectLst/>
                <a:uFillTx/>
                <a:latin typeface="Aptos"/>
              </a:rPr>
              <a:t>FDP Command Adaptor SNS — CI/CD Optimisation</a:t>
            </a:r>
            <a:endParaRPr b="0" lang="en-US" sz="5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Text 27"/>
          <p:cNvSpPr/>
          <p:nvPr/>
        </p:nvSpPr>
        <p:spPr>
          <a:xfrm>
            <a:off x="11658600" y="6528960"/>
            <a:ext cx="2008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580" strike="noStrike" u="none">
                <a:solidFill>
                  <a:srgbClr val="a0aec0"/>
                </a:solidFill>
                <a:effectLst/>
                <a:uFillTx/>
                <a:latin typeface="Aptos"/>
              </a:rPr>
              <a:t>10</a:t>
            </a:r>
            <a:endParaRPr b="0" lang="en-US" sz="5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d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Text 0"/>
          <p:cNvSpPr/>
          <p:nvPr/>
        </p:nvSpPr>
        <p:spPr>
          <a:xfrm>
            <a:off x="594360" y="777240"/>
            <a:ext cx="54860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Result and next step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6" name="Text 1"/>
          <p:cNvSpPr/>
          <p:nvPr/>
        </p:nvSpPr>
        <p:spPr>
          <a:xfrm>
            <a:off x="594360" y="1234440"/>
            <a:ext cx="56689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a7b5c4"/>
                </a:solidFill>
                <a:effectLst/>
                <a:uFillTx/>
                <a:latin typeface="Aptos"/>
              </a:rPr>
              <a:t>Treat SNS as the reference implementation, then validate and standardise.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7" name="Text 2"/>
          <p:cNvSpPr/>
          <p:nvPr/>
        </p:nvSpPr>
        <p:spPr>
          <a:xfrm>
            <a:off x="1417320" y="214884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4a000"/>
                </a:solidFill>
                <a:effectLst/>
                <a:uFillTx/>
                <a:latin typeface="Aptos"/>
              </a:rPr>
              <a:t>13:35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8" name="Shape 3"/>
          <p:cNvSpPr/>
          <p:nvPr/>
        </p:nvSpPr>
        <p:spPr>
          <a:xfrm>
            <a:off x="2514600" y="2331720"/>
            <a:ext cx="2011680" cy="360"/>
          </a:xfrm>
          <a:prstGeom prst="line">
            <a:avLst/>
          </a:prstGeom>
          <a:ln w="16510">
            <a:solidFill>
              <a:srgbClr val="94a3b8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9" name="Text 4"/>
          <p:cNvSpPr/>
          <p:nvPr/>
        </p:nvSpPr>
        <p:spPr>
          <a:xfrm>
            <a:off x="4572000" y="2148840"/>
            <a:ext cx="1554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4:57 / 4:44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0" name="Shape 5"/>
          <p:cNvSpPr/>
          <p:nvPr/>
        </p:nvSpPr>
        <p:spPr>
          <a:xfrm>
            <a:off x="7406640" y="1828800"/>
            <a:ext cx="2651400" cy="71280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7ecf3"/>
            </a:solidFill>
            <a:round/>
          </a:ln>
          <a:effectLst>
            <a:outerShdw algn="bl" blurRad="19080" dir="2700000" dist="9673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Text 6"/>
          <p:cNvSpPr/>
          <p:nvPr/>
        </p:nvSpPr>
        <p:spPr>
          <a:xfrm>
            <a:off x="7516440" y="1920240"/>
            <a:ext cx="24318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00a6a6"/>
                </a:solidFill>
                <a:effectLst/>
                <a:uFillTx/>
                <a:latin typeface="Aptos"/>
              </a:rPr>
              <a:t>~65.2% reduction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2" name="Text 7"/>
          <p:cNvSpPr/>
          <p:nvPr/>
        </p:nvSpPr>
        <p:spPr>
          <a:xfrm>
            <a:off x="7516440" y="2267640"/>
            <a:ext cx="24318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60" strike="noStrike" u="none">
                <a:solidFill>
                  <a:srgbClr val="667085"/>
                </a:solidFill>
                <a:effectLst/>
                <a:uFillTx/>
                <a:latin typeface="Aptos"/>
              </a:rPr>
              <a:t>best observed comparison</a:t>
            </a:r>
            <a:endParaRPr b="0" lang="en-US" sz="66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3" name="Text 8"/>
          <p:cNvSpPr/>
          <p:nvPr/>
        </p:nvSpPr>
        <p:spPr>
          <a:xfrm>
            <a:off x="7516440" y="2423160"/>
            <a:ext cx="2431800" cy="10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520" strike="noStrike" u="none">
                <a:solidFill>
                  <a:srgbClr val="8a94a6"/>
                </a:solidFill>
                <a:effectLst/>
                <a:uFillTx/>
                <a:latin typeface="Aptos"/>
              </a:rPr>
              <a:t>~2.87x faster</a:t>
            </a:r>
            <a:endParaRPr b="0" lang="en-US" sz="5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4" name="Shape 9"/>
          <p:cNvSpPr/>
          <p:nvPr/>
        </p:nvSpPr>
        <p:spPr>
          <a:xfrm>
            <a:off x="914400" y="4663440"/>
            <a:ext cx="310680" cy="310680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5" name="Shape 10"/>
          <p:cNvSpPr/>
          <p:nvPr/>
        </p:nvSpPr>
        <p:spPr>
          <a:xfrm>
            <a:off x="1225080" y="4818600"/>
            <a:ext cx="2514600" cy="360"/>
          </a:xfrm>
          <a:prstGeom prst="line">
            <a:avLst/>
          </a:prstGeom>
          <a:ln w="13970">
            <a:solidFill>
              <a:srgbClr val="3551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6" name="Text 11"/>
          <p:cNvSpPr/>
          <p:nvPr/>
        </p:nvSpPr>
        <p:spPr>
          <a:xfrm>
            <a:off x="411480" y="5257800"/>
            <a:ext cx="13255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590" strike="noStrike" u="none">
                <a:solidFill>
                  <a:srgbClr val="cbd5e1"/>
                </a:solidFill>
                <a:effectLst/>
                <a:uFillTx/>
                <a:latin typeface="Aptos"/>
              </a:rPr>
              <a:t>Validate SNS as</a:t>
            </a:r>
            <a:endParaRPr b="0" lang="en-US" sz="59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590" strike="noStrike" u="none">
                <a:solidFill>
                  <a:srgbClr val="cbd5e1"/>
                </a:solidFill>
                <a:effectLst/>
                <a:uFillTx/>
                <a:latin typeface="Aptos"/>
              </a:rPr>
              <a:t>reference case</a:t>
            </a:r>
            <a:endParaRPr b="0" lang="en-US" sz="59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7" name="Shape 12"/>
          <p:cNvSpPr/>
          <p:nvPr/>
        </p:nvSpPr>
        <p:spPr>
          <a:xfrm>
            <a:off x="3703320" y="4663440"/>
            <a:ext cx="310680" cy="310680"/>
          </a:xfrm>
          <a:prstGeom prst="ellipse">
            <a:avLst/>
          </a:prstGeom>
          <a:solidFill>
            <a:srgbClr val="2f6eeb"/>
          </a:solidFill>
          <a:ln w="12700">
            <a:solidFill>
              <a:srgbClr val="2f6e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8" name="Shape 13"/>
          <p:cNvSpPr/>
          <p:nvPr/>
        </p:nvSpPr>
        <p:spPr>
          <a:xfrm>
            <a:off x="4014000" y="4818600"/>
            <a:ext cx="2514600" cy="360"/>
          </a:xfrm>
          <a:prstGeom prst="line">
            <a:avLst/>
          </a:prstGeom>
          <a:ln w="13970">
            <a:solidFill>
              <a:srgbClr val="3551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9" name="Text 14"/>
          <p:cNvSpPr/>
          <p:nvPr/>
        </p:nvSpPr>
        <p:spPr>
          <a:xfrm>
            <a:off x="3200400" y="5257800"/>
            <a:ext cx="13255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590" strike="noStrike" u="none">
                <a:solidFill>
                  <a:srgbClr val="cbd5e1"/>
                </a:solidFill>
                <a:effectLst/>
                <a:uFillTx/>
                <a:latin typeface="Aptos"/>
              </a:rPr>
              <a:t>Apply to 2–3</a:t>
            </a:r>
            <a:endParaRPr b="0" lang="en-US" sz="59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590" strike="noStrike" u="none">
                <a:solidFill>
                  <a:srgbClr val="cbd5e1"/>
                </a:solidFill>
                <a:effectLst/>
                <a:uFillTx/>
                <a:latin typeface="Aptos"/>
              </a:rPr>
              <a:t>representative repos</a:t>
            </a:r>
            <a:endParaRPr b="0" lang="en-US" sz="59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0" name="Shape 15"/>
          <p:cNvSpPr/>
          <p:nvPr/>
        </p:nvSpPr>
        <p:spPr>
          <a:xfrm>
            <a:off x="6492240" y="4663440"/>
            <a:ext cx="310680" cy="310680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1" name="Shape 16"/>
          <p:cNvSpPr/>
          <p:nvPr/>
        </p:nvSpPr>
        <p:spPr>
          <a:xfrm>
            <a:off x="6802920" y="4818600"/>
            <a:ext cx="2514600" cy="360"/>
          </a:xfrm>
          <a:prstGeom prst="line">
            <a:avLst/>
          </a:prstGeom>
          <a:ln w="13970">
            <a:solidFill>
              <a:srgbClr val="3551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2" name="Text 17"/>
          <p:cNvSpPr/>
          <p:nvPr/>
        </p:nvSpPr>
        <p:spPr>
          <a:xfrm>
            <a:off x="5989320" y="5257800"/>
            <a:ext cx="13255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590" strike="noStrike" u="none">
                <a:solidFill>
                  <a:srgbClr val="cbd5e1"/>
                </a:solidFill>
                <a:effectLst/>
                <a:uFillTx/>
                <a:latin typeface="Aptos"/>
              </a:rPr>
              <a:t>Define standard</a:t>
            </a:r>
            <a:endParaRPr b="0" lang="en-US" sz="59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590" strike="noStrike" u="none">
                <a:solidFill>
                  <a:srgbClr val="cbd5e1"/>
                </a:solidFill>
                <a:effectLst/>
                <a:uFillTx/>
                <a:latin typeface="Aptos"/>
              </a:rPr>
              <a:t>and guardrails</a:t>
            </a:r>
            <a:endParaRPr b="0" lang="en-US" sz="59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3" name="Shape 18"/>
          <p:cNvSpPr/>
          <p:nvPr/>
        </p:nvSpPr>
        <p:spPr>
          <a:xfrm>
            <a:off x="9281160" y="4663440"/>
            <a:ext cx="310680" cy="310680"/>
          </a:xfrm>
          <a:prstGeom prst="ellipse">
            <a:avLst/>
          </a:prstGeom>
          <a:solidFill>
            <a:srgbClr val="2f6eeb"/>
          </a:solidFill>
          <a:ln w="12700">
            <a:solidFill>
              <a:srgbClr val="2f6e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4" name="Text 19"/>
          <p:cNvSpPr/>
          <p:nvPr/>
        </p:nvSpPr>
        <p:spPr>
          <a:xfrm>
            <a:off x="8778240" y="5257800"/>
            <a:ext cx="13255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590" strike="noStrike" u="none">
                <a:solidFill>
                  <a:srgbClr val="cbd5e1"/>
                </a:solidFill>
                <a:effectLst/>
                <a:uFillTx/>
                <a:latin typeface="Aptos"/>
              </a:rPr>
              <a:t>Run technical</a:t>
            </a:r>
            <a:endParaRPr b="0" lang="en-US" sz="59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590" strike="noStrike" u="none">
                <a:solidFill>
                  <a:srgbClr val="cbd5e1"/>
                </a:solidFill>
                <a:effectLst/>
                <a:uFillTx/>
                <a:latin typeface="Aptos"/>
              </a:rPr>
              <a:t>enablement session</a:t>
            </a:r>
            <a:endParaRPr b="0" lang="en-US" sz="59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5" name="Text 20"/>
          <p:cNvSpPr/>
          <p:nvPr/>
        </p:nvSpPr>
        <p:spPr>
          <a:xfrm>
            <a:off x="3383280" y="6144840"/>
            <a:ext cx="54860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20" strike="noStrike" u="none">
                <a:solidFill>
                  <a:srgbClr val="a7b5c4"/>
                </a:solidFill>
                <a:effectLst/>
                <a:uFillTx/>
                <a:latin typeface="Aptos"/>
              </a:rPr>
              <a:t>Closing message: measure, redesign, protect correctness, validate, standardise.</a:t>
            </a:r>
            <a:endParaRPr b="0" lang="en-US" sz="7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6" name="Text 21"/>
          <p:cNvSpPr/>
          <p:nvPr/>
        </p:nvSpPr>
        <p:spPr>
          <a:xfrm>
            <a:off x="411480" y="6546960"/>
            <a:ext cx="53031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580" strike="noStrike" u="none">
                <a:solidFill>
                  <a:srgbClr val="a0aec0"/>
                </a:solidFill>
                <a:effectLst/>
                <a:uFillTx/>
                <a:latin typeface="Aptos"/>
              </a:rPr>
              <a:t>FDP Command Adaptor SNS — CI/CD Optimisation</a:t>
            </a:r>
            <a:endParaRPr b="0" lang="en-US" sz="58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7" name="Text 22"/>
          <p:cNvSpPr/>
          <p:nvPr/>
        </p:nvSpPr>
        <p:spPr>
          <a:xfrm>
            <a:off x="11658600" y="6528960"/>
            <a:ext cx="2008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580" strike="noStrike" u="none">
                <a:solidFill>
                  <a:srgbClr val="a0aec0"/>
                </a:solidFill>
                <a:effectLst/>
                <a:uFillTx/>
                <a:latin typeface="Aptos"/>
              </a:rPr>
              <a:t>11</a:t>
            </a:r>
            <a:endParaRPr b="0" lang="en-US" sz="58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LibreOffice/25.2.3.2$Linux_X86_64 LibreOffice_project/520$Build-2</Application>
  <AppVersion>15.0000</AppVersion>
  <Words>0</Words>
  <Paragraphs>0</Paragraphs>
  <Company>OpenAI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2026-08-14T01:09:39Z</dcterms:created>
  <dc:creator>OpenAI</dc:creator>
  <dc:description/>
  <dc:language>en-US</dc:language>
  <cp:lastModifiedBy>OpenAI</cp:lastModifiedBy>
  <dcterms:modified xsi:type="dcterms:W3CDTF">2026-08-14T01:09:39Z</dcterms:modified>
  <cp:revision>1</cp:revision>
  <dc:subject>FDP Command Adaptor SNS CI/CD Optimisation</dc:subject>
  <dc:title>FDP CI/CD Optimisation — SNS Reference Implementation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11</vt:r8>
  </property>
  <property fmtid="{D5CDD505-2E9C-101B-9397-08002B2CF9AE}" pid="3" name="PresentationFormat">
    <vt:lpwstr>On-screen Show (16:9)</vt:lpwstr>
  </property>
  <property fmtid="{D5CDD505-2E9C-101B-9397-08002B2CF9AE}" pid="4" name="Slides">
    <vt:r8>11</vt:r8>
  </property>
</Properties>
</file>